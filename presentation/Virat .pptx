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56" d="100"/>
          <a:sy n="56" d="100"/>
        </p:scale>
        <p:origin x="61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2F2F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0" i="0">
                <a:solidFill>
                  <a:srgbClr val="F2F2F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2F2F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550" b="0" i="0">
                <a:solidFill>
                  <a:srgbClr val="F2F2F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2F2F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F2F2F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92B3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354404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292B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3343" y="278549"/>
            <a:ext cx="16334105" cy="2009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F2F2F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4137" y="1757497"/>
            <a:ext cx="16016605" cy="2426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50" b="0" i="0">
                <a:solidFill>
                  <a:srgbClr val="F2F2F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30000" y="0"/>
            <a:ext cx="6858000" cy="10287000"/>
            <a:chOff x="11430000" y="0"/>
            <a:chExt cx="6858000" cy="10287000"/>
          </a:xfrm>
        </p:grpSpPr>
        <p:pic>
          <p:nvPicPr>
            <p:cNvPr id="3" name="object 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049019" y="9686925"/>
              <a:ext cx="2153221" cy="51434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30000" y="0"/>
              <a:ext cx="6857998" cy="10286998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79537" y="3101940"/>
            <a:ext cx="8943340" cy="262572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>
              <a:lnSpc>
                <a:spcPts val="6900"/>
              </a:lnSpc>
              <a:spcBef>
                <a:spcPts val="140"/>
              </a:spcBef>
            </a:pPr>
            <a:r>
              <a:rPr sz="5550" spc="150" dirty="0"/>
              <a:t>Virat</a:t>
            </a:r>
            <a:r>
              <a:rPr sz="5550" spc="-420" dirty="0"/>
              <a:t> </a:t>
            </a:r>
            <a:r>
              <a:rPr sz="5550" spc="225" dirty="0"/>
              <a:t>Kohli</a:t>
            </a:r>
            <a:r>
              <a:rPr sz="5550" spc="-420" dirty="0"/>
              <a:t> </a:t>
            </a:r>
            <a:r>
              <a:rPr sz="5550" spc="130" dirty="0"/>
              <a:t>Career</a:t>
            </a:r>
            <a:r>
              <a:rPr sz="5550" spc="-415" dirty="0"/>
              <a:t> </a:t>
            </a:r>
            <a:r>
              <a:rPr sz="5550" spc="185" dirty="0"/>
              <a:t>Statistics </a:t>
            </a:r>
            <a:r>
              <a:rPr sz="5550" spc="210" dirty="0"/>
              <a:t>Analysis</a:t>
            </a:r>
            <a:r>
              <a:rPr sz="5550" spc="-405" dirty="0"/>
              <a:t> </a:t>
            </a:r>
            <a:r>
              <a:rPr sz="5550" spc="135" dirty="0"/>
              <a:t>Dashboard</a:t>
            </a:r>
            <a:r>
              <a:rPr sz="5550" spc="-400" dirty="0"/>
              <a:t> </a:t>
            </a:r>
            <a:r>
              <a:rPr sz="5550" spc="180" dirty="0"/>
              <a:t>(2008–</a:t>
            </a:r>
            <a:endParaRPr sz="5550"/>
          </a:p>
          <a:p>
            <a:pPr marL="12700">
              <a:lnSpc>
                <a:spcPts val="6630"/>
              </a:lnSpc>
            </a:pPr>
            <a:r>
              <a:rPr sz="5550" spc="170" dirty="0"/>
              <a:t>2025)</a:t>
            </a:r>
            <a:endParaRPr sz="5550"/>
          </a:p>
        </p:txBody>
      </p:sp>
      <p:sp>
        <p:nvSpPr>
          <p:cNvPr id="6" name="object 6"/>
          <p:cNvSpPr txBox="1"/>
          <p:nvPr/>
        </p:nvSpPr>
        <p:spPr>
          <a:xfrm>
            <a:off x="979537" y="5876441"/>
            <a:ext cx="8023859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spc="165" dirty="0">
                <a:solidFill>
                  <a:srgbClr val="F2F2F1"/>
                </a:solidFill>
                <a:latin typeface="Tahoma"/>
                <a:cs typeface="Tahoma"/>
              </a:rPr>
              <a:t>A</a:t>
            </a:r>
            <a:r>
              <a:rPr sz="2750" spc="-210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2750" spc="105" dirty="0">
                <a:solidFill>
                  <a:srgbClr val="F2F2F1"/>
                </a:solidFill>
                <a:latin typeface="Tahoma"/>
                <a:cs typeface="Tahoma"/>
              </a:rPr>
              <a:t>Power</a:t>
            </a:r>
            <a:r>
              <a:rPr sz="2750" spc="-204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2750" spc="140" dirty="0">
                <a:solidFill>
                  <a:srgbClr val="F2F2F1"/>
                </a:solidFill>
                <a:latin typeface="Tahoma"/>
                <a:cs typeface="Tahoma"/>
              </a:rPr>
              <a:t>BI</a:t>
            </a:r>
            <a:r>
              <a:rPr sz="2750" spc="-204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2750" spc="50" dirty="0">
                <a:solidFill>
                  <a:srgbClr val="F2F2F1"/>
                </a:solidFill>
                <a:latin typeface="Tahoma"/>
                <a:cs typeface="Tahoma"/>
              </a:rPr>
              <a:t>Data</a:t>
            </a:r>
            <a:r>
              <a:rPr sz="2750" spc="-204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2750" spc="80" dirty="0">
                <a:solidFill>
                  <a:srgbClr val="F2F2F1"/>
                </a:solidFill>
                <a:latin typeface="Tahoma"/>
                <a:cs typeface="Tahoma"/>
              </a:rPr>
              <a:t>Visualization</a:t>
            </a:r>
            <a:r>
              <a:rPr sz="2750" spc="-210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2750" spc="65" dirty="0">
                <a:solidFill>
                  <a:srgbClr val="F2F2F1"/>
                </a:solidFill>
                <a:latin typeface="Tahoma"/>
                <a:cs typeface="Tahoma"/>
              </a:rPr>
              <a:t>and</a:t>
            </a:r>
            <a:r>
              <a:rPr sz="2750" spc="-204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2750" spc="65" dirty="0">
                <a:solidFill>
                  <a:srgbClr val="F2F2F1"/>
                </a:solidFill>
                <a:latin typeface="Tahoma"/>
                <a:cs typeface="Tahoma"/>
              </a:rPr>
              <a:t>Insights</a:t>
            </a:r>
            <a:r>
              <a:rPr sz="2750" spc="-204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2750" spc="55" dirty="0">
                <a:solidFill>
                  <a:srgbClr val="F2F2F1"/>
                </a:solidFill>
                <a:latin typeface="Tahoma"/>
                <a:cs typeface="Tahoma"/>
              </a:rPr>
              <a:t>Report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79537" y="6749288"/>
            <a:ext cx="5030470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Prepared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for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Sports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D4D4D0"/>
                </a:solidFill>
                <a:latin typeface="Roboto"/>
                <a:cs typeface="Roboto"/>
              </a:rPr>
              <a:t>Analysts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and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Data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Storytellers.</a:t>
            </a:r>
            <a:endParaRPr sz="17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326037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0211" y="4149260"/>
            <a:ext cx="15989300" cy="160655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6300"/>
              </a:lnSpc>
              <a:spcBef>
                <a:spcPts val="50"/>
              </a:spcBef>
            </a:pPr>
            <a:r>
              <a:rPr sz="5100" spc="195" dirty="0"/>
              <a:t>Analysis</a:t>
            </a:r>
            <a:r>
              <a:rPr sz="5100" spc="-375" dirty="0"/>
              <a:t> </a:t>
            </a:r>
            <a:r>
              <a:rPr sz="5100" spc="90" dirty="0"/>
              <a:t>Objective:</a:t>
            </a:r>
            <a:r>
              <a:rPr sz="5100" spc="-375" dirty="0"/>
              <a:t> </a:t>
            </a:r>
            <a:r>
              <a:rPr sz="5100" spc="135" dirty="0"/>
              <a:t>Deconstructing</a:t>
            </a:r>
            <a:r>
              <a:rPr sz="5100" spc="-375" dirty="0"/>
              <a:t> </a:t>
            </a:r>
            <a:r>
              <a:rPr sz="5100" spc="130" dirty="0"/>
              <a:t>a</a:t>
            </a:r>
            <a:r>
              <a:rPr sz="5100" spc="-370" dirty="0"/>
              <a:t> </a:t>
            </a:r>
            <a:r>
              <a:rPr sz="5100" spc="185" dirty="0"/>
              <a:t>Cricket</a:t>
            </a:r>
            <a:r>
              <a:rPr sz="5100" spc="-375" dirty="0"/>
              <a:t> </a:t>
            </a:r>
            <a:r>
              <a:rPr sz="5100" spc="120" dirty="0"/>
              <a:t>Legend's </a:t>
            </a:r>
            <a:r>
              <a:rPr sz="5100" spc="155" dirty="0"/>
              <a:t>Performance</a:t>
            </a:r>
            <a:endParaRPr sz="5100"/>
          </a:p>
        </p:txBody>
      </p:sp>
      <p:grpSp>
        <p:nvGrpSpPr>
          <p:cNvPr id="4" name="object 4"/>
          <p:cNvGrpSpPr/>
          <p:nvPr/>
        </p:nvGrpSpPr>
        <p:grpSpPr>
          <a:xfrm>
            <a:off x="912911" y="6210002"/>
            <a:ext cx="5313680" cy="3148330"/>
            <a:chOff x="912911" y="6210002"/>
            <a:chExt cx="5313680" cy="3148330"/>
          </a:xfrm>
        </p:grpSpPr>
        <p:sp>
          <p:nvSpPr>
            <p:cNvPr id="5" name="object 5"/>
            <p:cNvSpPr/>
            <p:nvPr/>
          </p:nvSpPr>
          <p:spPr>
            <a:xfrm>
              <a:off x="912911" y="6601122"/>
              <a:ext cx="5313680" cy="2757805"/>
            </a:xfrm>
            <a:custGeom>
              <a:avLst/>
              <a:gdLst/>
              <a:ahLst/>
              <a:cxnLst/>
              <a:rect l="l" t="t" r="r" b="b"/>
              <a:pathLst>
                <a:path w="5313680" h="2757804">
                  <a:moveTo>
                    <a:pt x="5176265" y="2757201"/>
                  </a:moveTo>
                  <a:lnTo>
                    <a:pt x="137159" y="2757201"/>
                  </a:lnTo>
                  <a:lnTo>
                    <a:pt x="93817" y="2750206"/>
                  </a:lnTo>
                  <a:lnTo>
                    <a:pt x="56167" y="2730729"/>
                  </a:lnTo>
                  <a:lnTo>
                    <a:pt x="26471" y="2701034"/>
                  </a:lnTo>
                  <a:lnTo>
                    <a:pt x="6995" y="2663384"/>
                  </a:lnTo>
                  <a:lnTo>
                    <a:pt x="0" y="2620041"/>
                  </a:lnTo>
                  <a:lnTo>
                    <a:pt x="0" y="137159"/>
                  </a:lnTo>
                  <a:lnTo>
                    <a:pt x="6995" y="93817"/>
                  </a:lnTo>
                  <a:lnTo>
                    <a:pt x="26471" y="56166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59" y="0"/>
                  </a:lnTo>
                  <a:lnTo>
                    <a:pt x="5176265" y="0"/>
                  </a:lnTo>
                  <a:lnTo>
                    <a:pt x="5219608" y="6995"/>
                  </a:lnTo>
                  <a:lnTo>
                    <a:pt x="5257258" y="26471"/>
                  </a:lnTo>
                  <a:lnTo>
                    <a:pt x="5286954" y="56166"/>
                  </a:lnTo>
                  <a:lnTo>
                    <a:pt x="5306430" y="93817"/>
                  </a:lnTo>
                  <a:lnTo>
                    <a:pt x="5313426" y="137159"/>
                  </a:lnTo>
                  <a:lnTo>
                    <a:pt x="5313426" y="2620041"/>
                  </a:lnTo>
                  <a:lnTo>
                    <a:pt x="5306430" y="2663384"/>
                  </a:lnTo>
                  <a:lnTo>
                    <a:pt x="5286954" y="2701034"/>
                  </a:lnTo>
                  <a:lnTo>
                    <a:pt x="5257258" y="2730729"/>
                  </a:lnTo>
                  <a:lnTo>
                    <a:pt x="5219608" y="2750206"/>
                  </a:lnTo>
                  <a:lnTo>
                    <a:pt x="5176265" y="2757201"/>
                  </a:lnTo>
                  <a:close/>
                </a:path>
              </a:pathLst>
            </a:custGeom>
            <a:solidFill>
              <a:srgbClr val="292B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2901" y="6210007"/>
              <a:ext cx="5313680" cy="782955"/>
            </a:xfrm>
            <a:custGeom>
              <a:avLst/>
              <a:gdLst/>
              <a:ahLst/>
              <a:cxnLst/>
              <a:rect l="l" t="t" r="r" b="b"/>
              <a:pathLst>
                <a:path w="5313680" h="782954">
                  <a:moveTo>
                    <a:pt x="5313527" y="401688"/>
                  </a:moveTo>
                  <a:lnTo>
                    <a:pt x="5310454" y="386461"/>
                  </a:lnTo>
                  <a:lnTo>
                    <a:pt x="5302059" y="374015"/>
                  </a:lnTo>
                  <a:lnTo>
                    <a:pt x="5289613" y="365620"/>
                  </a:lnTo>
                  <a:lnTo>
                    <a:pt x="5274373" y="362546"/>
                  </a:lnTo>
                  <a:lnTo>
                    <a:pt x="3046133" y="362546"/>
                  </a:lnTo>
                  <a:lnTo>
                    <a:pt x="3044875" y="342125"/>
                  </a:lnTo>
                  <a:lnTo>
                    <a:pt x="3035973" y="294881"/>
                  </a:lnTo>
                  <a:lnTo>
                    <a:pt x="3021584" y="249809"/>
                  </a:lnTo>
                  <a:lnTo>
                    <a:pt x="3002089" y="207302"/>
                  </a:lnTo>
                  <a:lnTo>
                    <a:pt x="2977832" y="167703"/>
                  </a:lnTo>
                  <a:lnTo>
                    <a:pt x="2949194" y="131394"/>
                  </a:lnTo>
                  <a:lnTo>
                    <a:pt x="2916529" y="98742"/>
                  </a:lnTo>
                  <a:lnTo>
                    <a:pt x="2880220" y="70091"/>
                  </a:lnTo>
                  <a:lnTo>
                    <a:pt x="2840621" y="45834"/>
                  </a:lnTo>
                  <a:lnTo>
                    <a:pt x="2798114" y="26339"/>
                  </a:lnTo>
                  <a:lnTo>
                    <a:pt x="2753042" y="11950"/>
                  </a:lnTo>
                  <a:lnTo>
                    <a:pt x="2705798" y="3048"/>
                  </a:lnTo>
                  <a:lnTo>
                    <a:pt x="2656725" y="0"/>
                  </a:lnTo>
                  <a:lnTo>
                    <a:pt x="2607665" y="3048"/>
                  </a:lnTo>
                  <a:lnTo>
                    <a:pt x="2560421" y="11950"/>
                  </a:lnTo>
                  <a:lnTo>
                    <a:pt x="2515349" y="26339"/>
                  </a:lnTo>
                  <a:lnTo>
                    <a:pt x="2472842" y="45834"/>
                  </a:lnTo>
                  <a:lnTo>
                    <a:pt x="2433243" y="70091"/>
                  </a:lnTo>
                  <a:lnTo>
                    <a:pt x="2396934" y="98742"/>
                  </a:lnTo>
                  <a:lnTo>
                    <a:pt x="2364270" y="131394"/>
                  </a:lnTo>
                  <a:lnTo>
                    <a:pt x="2335631" y="167703"/>
                  </a:lnTo>
                  <a:lnTo>
                    <a:pt x="2311374" y="207302"/>
                  </a:lnTo>
                  <a:lnTo>
                    <a:pt x="2291880" y="249809"/>
                  </a:lnTo>
                  <a:lnTo>
                    <a:pt x="2277491" y="294881"/>
                  </a:lnTo>
                  <a:lnTo>
                    <a:pt x="2268588" y="342125"/>
                  </a:lnTo>
                  <a:lnTo>
                    <a:pt x="2267318" y="362546"/>
                  </a:lnTo>
                  <a:lnTo>
                    <a:pt x="39154" y="362546"/>
                  </a:lnTo>
                  <a:lnTo>
                    <a:pt x="23914" y="365620"/>
                  </a:lnTo>
                  <a:lnTo>
                    <a:pt x="11468" y="374015"/>
                  </a:lnTo>
                  <a:lnTo>
                    <a:pt x="3086" y="386461"/>
                  </a:lnTo>
                  <a:lnTo>
                    <a:pt x="0" y="401688"/>
                  </a:lnTo>
                  <a:lnTo>
                    <a:pt x="0" y="437692"/>
                  </a:lnTo>
                  <a:lnTo>
                    <a:pt x="3086" y="452932"/>
                  </a:lnTo>
                  <a:lnTo>
                    <a:pt x="11468" y="465378"/>
                  </a:lnTo>
                  <a:lnTo>
                    <a:pt x="23914" y="473773"/>
                  </a:lnTo>
                  <a:lnTo>
                    <a:pt x="39154" y="476846"/>
                  </a:lnTo>
                  <a:lnTo>
                    <a:pt x="2275471" y="476846"/>
                  </a:lnTo>
                  <a:lnTo>
                    <a:pt x="2277491" y="487502"/>
                  </a:lnTo>
                  <a:lnTo>
                    <a:pt x="2291880" y="532574"/>
                  </a:lnTo>
                  <a:lnTo>
                    <a:pt x="2311374" y="575081"/>
                  </a:lnTo>
                  <a:lnTo>
                    <a:pt x="2335631" y="614680"/>
                  </a:lnTo>
                  <a:lnTo>
                    <a:pt x="2364270" y="650989"/>
                  </a:lnTo>
                  <a:lnTo>
                    <a:pt x="2396934" y="683653"/>
                  </a:lnTo>
                  <a:lnTo>
                    <a:pt x="2433243" y="712292"/>
                  </a:lnTo>
                  <a:lnTo>
                    <a:pt x="2472842" y="736549"/>
                  </a:lnTo>
                  <a:lnTo>
                    <a:pt x="2515349" y="756043"/>
                  </a:lnTo>
                  <a:lnTo>
                    <a:pt x="2560421" y="770432"/>
                  </a:lnTo>
                  <a:lnTo>
                    <a:pt x="2607665" y="779335"/>
                  </a:lnTo>
                  <a:lnTo>
                    <a:pt x="2656725" y="782383"/>
                  </a:lnTo>
                  <a:lnTo>
                    <a:pt x="2705798" y="779335"/>
                  </a:lnTo>
                  <a:lnTo>
                    <a:pt x="2753042" y="770432"/>
                  </a:lnTo>
                  <a:lnTo>
                    <a:pt x="2798114" y="756043"/>
                  </a:lnTo>
                  <a:lnTo>
                    <a:pt x="2840621" y="736549"/>
                  </a:lnTo>
                  <a:lnTo>
                    <a:pt x="2880220" y="712292"/>
                  </a:lnTo>
                  <a:lnTo>
                    <a:pt x="2916529" y="683653"/>
                  </a:lnTo>
                  <a:lnTo>
                    <a:pt x="2949194" y="650989"/>
                  </a:lnTo>
                  <a:lnTo>
                    <a:pt x="2977832" y="614680"/>
                  </a:lnTo>
                  <a:lnTo>
                    <a:pt x="3002089" y="575081"/>
                  </a:lnTo>
                  <a:lnTo>
                    <a:pt x="3021584" y="532574"/>
                  </a:lnTo>
                  <a:lnTo>
                    <a:pt x="3035973" y="487502"/>
                  </a:lnTo>
                  <a:lnTo>
                    <a:pt x="3037979" y="476846"/>
                  </a:lnTo>
                  <a:lnTo>
                    <a:pt x="5274373" y="476846"/>
                  </a:lnTo>
                  <a:lnTo>
                    <a:pt x="5289613" y="473773"/>
                  </a:lnTo>
                  <a:lnTo>
                    <a:pt x="5302059" y="465378"/>
                  </a:lnTo>
                  <a:lnTo>
                    <a:pt x="5310454" y="452932"/>
                  </a:lnTo>
                  <a:lnTo>
                    <a:pt x="5313527" y="437692"/>
                  </a:lnTo>
                  <a:lnTo>
                    <a:pt x="5313527" y="401688"/>
                  </a:lnTo>
                  <a:close/>
                </a:path>
              </a:pathLst>
            </a:custGeom>
            <a:solidFill>
              <a:srgbClr val="FFBC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02997" y="6562375"/>
              <a:ext cx="104238" cy="19001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432156" y="6462589"/>
              <a:ext cx="268605" cy="283845"/>
            </a:xfrm>
            <a:custGeom>
              <a:avLst/>
              <a:gdLst/>
              <a:ahLst/>
              <a:cxnLst/>
              <a:rect l="l" t="t" r="r" b="b"/>
              <a:pathLst>
                <a:path w="268604" h="283845">
                  <a:moveTo>
                    <a:pt x="98348" y="24225"/>
                  </a:moveTo>
                  <a:lnTo>
                    <a:pt x="59868" y="12970"/>
                  </a:lnTo>
                  <a:lnTo>
                    <a:pt x="36838" y="11225"/>
                  </a:lnTo>
                  <a:lnTo>
                    <a:pt x="29032" y="10804"/>
                  </a:lnTo>
                  <a:lnTo>
                    <a:pt x="23404" y="10358"/>
                  </a:lnTo>
                  <a:lnTo>
                    <a:pt x="19117" y="9473"/>
                  </a:lnTo>
                  <a:lnTo>
                    <a:pt x="14449" y="8013"/>
                  </a:lnTo>
                  <a:lnTo>
                    <a:pt x="9489" y="5681"/>
                  </a:lnTo>
                  <a:lnTo>
                    <a:pt x="1295" y="0"/>
                  </a:lnTo>
                </a:path>
                <a:path w="268604" h="283845">
                  <a:moveTo>
                    <a:pt x="268363" y="283088"/>
                  </a:moveTo>
                  <a:lnTo>
                    <a:pt x="0" y="283686"/>
                  </a:lnTo>
                </a:path>
              </a:pathLst>
            </a:custGeom>
            <a:ln w="13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5441" y="6479987"/>
              <a:ext cx="265987" cy="27300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426582" y="6450179"/>
              <a:ext cx="287655" cy="303530"/>
            </a:xfrm>
            <a:custGeom>
              <a:avLst/>
              <a:gdLst/>
              <a:ahLst/>
              <a:cxnLst/>
              <a:rect l="l" t="t" r="r" b="b"/>
              <a:pathLst>
                <a:path w="287654" h="303529">
                  <a:moveTo>
                    <a:pt x="6869" y="12410"/>
                  </a:moveTo>
                  <a:lnTo>
                    <a:pt x="5573" y="296096"/>
                  </a:lnTo>
                </a:path>
                <a:path w="287654" h="303529">
                  <a:moveTo>
                    <a:pt x="0" y="0"/>
                  </a:moveTo>
                  <a:lnTo>
                    <a:pt x="2037" y="4276"/>
                  </a:lnTo>
                  <a:lnTo>
                    <a:pt x="4350" y="8397"/>
                  </a:lnTo>
                  <a:lnTo>
                    <a:pt x="6939" y="12364"/>
                  </a:lnTo>
                </a:path>
                <a:path w="287654" h="303529">
                  <a:moveTo>
                    <a:pt x="273937" y="295499"/>
                  </a:moveTo>
                  <a:lnTo>
                    <a:pt x="287459" y="303156"/>
                  </a:lnTo>
                </a:path>
              </a:pathLst>
            </a:custGeom>
            <a:ln w="1343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98508" y="7004982"/>
            <a:ext cx="4253865" cy="1775486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85"/>
              </a:spcBef>
            </a:pPr>
            <a:r>
              <a:rPr sz="2550" spc="85" dirty="0">
                <a:solidFill>
                  <a:srgbClr val="D4D4D0"/>
                </a:solidFill>
                <a:latin typeface="Tahoma"/>
                <a:cs typeface="Tahoma"/>
              </a:rPr>
              <a:t>Analyze</a:t>
            </a:r>
            <a:r>
              <a:rPr sz="2550" spc="-170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550" spc="55" dirty="0">
                <a:solidFill>
                  <a:srgbClr val="D4D4D0"/>
                </a:solidFill>
                <a:latin typeface="Tahoma"/>
                <a:cs typeface="Tahoma"/>
              </a:rPr>
              <a:t>Career</a:t>
            </a:r>
            <a:endParaRPr sz="2550" dirty="0">
              <a:latin typeface="Tahoma"/>
              <a:cs typeface="Tahoma"/>
            </a:endParaRPr>
          </a:p>
          <a:p>
            <a:pPr marL="38100" marR="30480">
              <a:lnSpc>
                <a:spcPts val="3229"/>
              </a:lnSpc>
              <a:spcBef>
                <a:spcPts val="595"/>
              </a:spcBef>
            </a:pPr>
            <a:r>
              <a:rPr sz="2000" spc="-1345" dirty="0" err="1">
                <a:solidFill>
                  <a:srgbClr val="D4D4D0"/>
                </a:solidFill>
                <a:latin typeface="Roboto"/>
                <a:cs typeface="Roboto"/>
              </a:rPr>
              <a:t>U</a:t>
            </a:r>
            <a:r>
              <a:rPr lang="en-US" sz="2000" spc="5" dirty="0" err="1">
                <a:solidFill>
                  <a:srgbClr val="D4D4D0"/>
                </a:solidFill>
                <a:latin typeface="Roboto"/>
                <a:cs typeface="Roboto"/>
              </a:rPr>
              <a:t>Utilize</a:t>
            </a:r>
            <a:r>
              <a:rPr lang="en-US" sz="2000" spc="5" dirty="0">
                <a:solidFill>
                  <a:srgbClr val="D4D4D0"/>
                </a:solidFill>
                <a:latin typeface="Roboto"/>
                <a:cs typeface="Roboto"/>
              </a:rPr>
              <a:t> advanc</a:t>
            </a:r>
            <a:r>
              <a:rPr sz="2000" spc="5" dirty="0">
                <a:solidFill>
                  <a:srgbClr val="D4D4D0"/>
                </a:solidFill>
                <a:latin typeface="Roboto"/>
                <a:cs typeface="Roboto"/>
              </a:rPr>
              <a:t>e</a:t>
            </a:r>
            <a:r>
              <a:rPr sz="2000" spc="10" dirty="0">
                <a:solidFill>
                  <a:srgbClr val="D4D4D0"/>
                </a:solidFill>
                <a:latin typeface="Roboto"/>
                <a:cs typeface="Roboto"/>
              </a:rPr>
              <a:t>d</a:t>
            </a:r>
            <a:r>
              <a:rPr sz="2000" spc="-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data</a:t>
            </a:r>
            <a:r>
              <a:rPr sz="200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spc="-25" dirty="0">
                <a:solidFill>
                  <a:srgbClr val="D4D4D0"/>
                </a:solidFill>
                <a:latin typeface="Roboto"/>
                <a:cs typeface="Roboto"/>
              </a:rPr>
              <a:t>visualization</a:t>
            </a:r>
            <a:r>
              <a:rPr sz="200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spc="-25" dirty="0">
                <a:solidFill>
                  <a:srgbClr val="D4D4D0"/>
                </a:solidFill>
                <a:latin typeface="Roboto"/>
                <a:cs typeface="Roboto"/>
              </a:rPr>
              <a:t>to understand</a:t>
            </a:r>
            <a:r>
              <a:rPr sz="200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the</a:t>
            </a:r>
            <a:r>
              <a:rPr sz="200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spc="-20" dirty="0">
                <a:solidFill>
                  <a:srgbClr val="D4D4D0"/>
                </a:solidFill>
                <a:latin typeface="Roboto"/>
                <a:cs typeface="Roboto"/>
              </a:rPr>
              <a:t>progression</a:t>
            </a:r>
            <a:r>
              <a:rPr sz="200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of</a:t>
            </a:r>
            <a:r>
              <a:rPr sz="200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D4D4D0"/>
                </a:solidFill>
                <a:latin typeface="Roboto"/>
                <a:cs typeface="Roboto"/>
              </a:rPr>
              <a:t>Virat </a:t>
            </a:r>
            <a:r>
              <a:rPr sz="2000" spc="-25" dirty="0">
                <a:solidFill>
                  <a:srgbClr val="D4D4D0"/>
                </a:solidFill>
                <a:latin typeface="Roboto"/>
                <a:cs typeface="Roboto"/>
              </a:rPr>
              <a:t>Kohli's</a:t>
            </a:r>
            <a:r>
              <a:rPr sz="2000" spc="-6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D4D4D0"/>
                </a:solidFill>
                <a:latin typeface="Roboto"/>
                <a:cs typeface="Roboto"/>
              </a:rPr>
              <a:t>performance</a:t>
            </a:r>
            <a:r>
              <a:rPr sz="2000" spc="-6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over</a:t>
            </a:r>
            <a:r>
              <a:rPr sz="200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17</a:t>
            </a:r>
            <a:r>
              <a:rPr sz="2000" spc="-6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D4D4D0"/>
                </a:solidFill>
                <a:latin typeface="Roboto"/>
                <a:cs typeface="Roboto"/>
              </a:rPr>
              <a:t>years.</a:t>
            </a:r>
            <a:endParaRPr sz="2000" dirty="0">
              <a:latin typeface="Roboto"/>
              <a:cs typeface="Roboto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87119" y="6210002"/>
            <a:ext cx="5313680" cy="3148330"/>
            <a:chOff x="6487119" y="6210002"/>
            <a:chExt cx="5313680" cy="3148330"/>
          </a:xfrm>
        </p:grpSpPr>
        <p:sp>
          <p:nvSpPr>
            <p:cNvPr id="13" name="object 13"/>
            <p:cNvSpPr/>
            <p:nvPr/>
          </p:nvSpPr>
          <p:spPr>
            <a:xfrm>
              <a:off x="6487119" y="6601122"/>
              <a:ext cx="5313680" cy="2757805"/>
            </a:xfrm>
            <a:custGeom>
              <a:avLst/>
              <a:gdLst/>
              <a:ahLst/>
              <a:cxnLst/>
              <a:rect l="l" t="t" r="r" b="b"/>
              <a:pathLst>
                <a:path w="5313680" h="2757804">
                  <a:moveTo>
                    <a:pt x="5176456" y="2757201"/>
                  </a:moveTo>
                  <a:lnTo>
                    <a:pt x="137159" y="2757201"/>
                  </a:lnTo>
                  <a:lnTo>
                    <a:pt x="93817" y="2750206"/>
                  </a:lnTo>
                  <a:lnTo>
                    <a:pt x="56166" y="2730729"/>
                  </a:lnTo>
                  <a:lnTo>
                    <a:pt x="26471" y="2701034"/>
                  </a:lnTo>
                  <a:lnTo>
                    <a:pt x="6995" y="2663384"/>
                  </a:lnTo>
                  <a:lnTo>
                    <a:pt x="0" y="2620041"/>
                  </a:lnTo>
                  <a:lnTo>
                    <a:pt x="0" y="137159"/>
                  </a:lnTo>
                  <a:lnTo>
                    <a:pt x="6995" y="93817"/>
                  </a:lnTo>
                  <a:lnTo>
                    <a:pt x="26471" y="56166"/>
                  </a:lnTo>
                  <a:lnTo>
                    <a:pt x="56166" y="26471"/>
                  </a:lnTo>
                  <a:lnTo>
                    <a:pt x="93817" y="6995"/>
                  </a:lnTo>
                  <a:lnTo>
                    <a:pt x="137159" y="0"/>
                  </a:lnTo>
                  <a:lnTo>
                    <a:pt x="5176456" y="0"/>
                  </a:lnTo>
                  <a:lnTo>
                    <a:pt x="5219798" y="6995"/>
                  </a:lnTo>
                  <a:lnTo>
                    <a:pt x="5257449" y="26471"/>
                  </a:lnTo>
                  <a:lnTo>
                    <a:pt x="5287144" y="56166"/>
                  </a:lnTo>
                  <a:lnTo>
                    <a:pt x="5306621" y="93817"/>
                  </a:lnTo>
                  <a:lnTo>
                    <a:pt x="5313616" y="137159"/>
                  </a:lnTo>
                  <a:lnTo>
                    <a:pt x="5313616" y="2620041"/>
                  </a:lnTo>
                  <a:lnTo>
                    <a:pt x="5306621" y="2663384"/>
                  </a:lnTo>
                  <a:lnTo>
                    <a:pt x="5287144" y="2701034"/>
                  </a:lnTo>
                  <a:lnTo>
                    <a:pt x="5257449" y="2730729"/>
                  </a:lnTo>
                  <a:lnTo>
                    <a:pt x="5219798" y="2750206"/>
                  </a:lnTo>
                  <a:lnTo>
                    <a:pt x="5176456" y="2757201"/>
                  </a:lnTo>
                  <a:close/>
                </a:path>
              </a:pathLst>
            </a:custGeom>
            <a:solidFill>
              <a:srgbClr val="292B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87109" y="6210007"/>
              <a:ext cx="5313680" cy="782955"/>
            </a:xfrm>
            <a:custGeom>
              <a:avLst/>
              <a:gdLst/>
              <a:ahLst/>
              <a:cxnLst/>
              <a:rect l="l" t="t" r="r" b="b"/>
              <a:pathLst>
                <a:path w="5313680" h="782954">
                  <a:moveTo>
                    <a:pt x="5313616" y="401688"/>
                  </a:moveTo>
                  <a:lnTo>
                    <a:pt x="5310543" y="386461"/>
                  </a:lnTo>
                  <a:lnTo>
                    <a:pt x="5302161" y="374015"/>
                  </a:lnTo>
                  <a:lnTo>
                    <a:pt x="5289715" y="365620"/>
                  </a:lnTo>
                  <a:lnTo>
                    <a:pt x="5274475" y="362546"/>
                  </a:lnTo>
                  <a:lnTo>
                    <a:pt x="3046133" y="362546"/>
                  </a:lnTo>
                  <a:lnTo>
                    <a:pt x="3044875" y="342125"/>
                  </a:lnTo>
                  <a:lnTo>
                    <a:pt x="3035973" y="294881"/>
                  </a:lnTo>
                  <a:lnTo>
                    <a:pt x="3021584" y="249809"/>
                  </a:lnTo>
                  <a:lnTo>
                    <a:pt x="3002089" y="207302"/>
                  </a:lnTo>
                  <a:lnTo>
                    <a:pt x="2977832" y="167703"/>
                  </a:lnTo>
                  <a:lnTo>
                    <a:pt x="2949194" y="131394"/>
                  </a:lnTo>
                  <a:lnTo>
                    <a:pt x="2916529" y="98742"/>
                  </a:lnTo>
                  <a:lnTo>
                    <a:pt x="2880220" y="70091"/>
                  </a:lnTo>
                  <a:lnTo>
                    <a:pt x="2840621" y="45834"/>
                  </a:lnTo>
                  <a:lnTo>
                    <a:pt x="2798114" y="26339"/>
                  </a:lnTo>
                  <a:lnTo>
                    <a:pt x="2753042" y="11950"/>
                  </a:lnTo>
                  <a:lnTo>
                    <a:pt x="2705798" y="3048"/>
                  </a:lnTo>
                  <a:lnTo>
                    <a:pt x="2656725" y="0"/>
                  </a:lnTo>
                  <a:lnTo>
                    <a:pt x="2607665" y="3048"/>
                  </a:lnTo>
                  <a:lnTo>
                    <a:pt x="2560421" y="11950"/>
                  </a:lnTo>
                  <a:lnTo>
                    <a:pt x="2515349" y="26339"/>
                  </a:lnTo>
                  <a:lnTo>
                    <a:pt x="2472842" y="45834"/>
                  </a:lnTo>
                  <a:lnTo>
                    <a:pt x="2433243" y="70091"/>
                  </a:lnTo>
                  <a:lnTo>
                    <a:pt x="2396934" y="98742"/>
                  </a:lnTo>
                  <a:lnTo>
                    <a:pt x="2364270" y="131394"/>
                  </a:lnTo>
                  <a:lnTo>
                    <a:pt x="2335631" y="167703"/>
                  </a:lnTo>
                  <a:lnTo>
                    <a:pt x="2311374" y="207302"/>
                  </a:lnTo>
                  <a:lnTo>
                    <a:pt x="2291880" y="249809"/>
                  </a:lnTo>
                  <a:lnTo>
                    <a:pt x="2277491" y="294881"/>
                  </a:lnTo>
                  <a:lnTo>
                    <a:pt x="2268588" y="342125"/>
                  </a:lnTo>
                  <a:lnTo>
                    <a:pt x="2267318" y="362546"/>
                  </a:lnTo>
                  <a:lnTo>
                    <a:pt x="39154" y="362546"/>
                  </a:lnTo>
                  <a:lnTo>
                    <a:pt x="23914" y="365620"/>
                  </a:lnTo>
                  <a:lnTo>
                    <a:pt x="11468" y="374015"/>
                  </a:lnTo>
                  <a:lnTo>
                    <a:pt x="3086" y="386461"/>
                  </a:lnTo>
                  <a:lnTo>
                    <a:pt x="0" y="401688"/>
                  </a:lnTo>
                  <a:lnTo>
                    <a:pt x="0" y="437692"/>
                  </a:lnTo>
                  <a:lnTo>
                    <a:pt x="3086" y="452932"/>
                  </a:lnTo>
                  <a:lnTo>
                    <a:pt x="11468" y="465378"/>
                  </a:lnTo>
                  <a:lnTo>
                    <a:pt x="23914" y="473773"/>
                  </a:lnTo>
                  <a:lnTo>
                    <a:pt x="39154" y="476846"/>
                  </a:lnTo>
                  <a:lnTo>
                    <a:pt x="2275471" y="476846"/>
                  </a:lnTo>
                  <a:lnTo>
                    <a:pt x="2277491" y="487502"/>
                  </a:lnTo>
                  <a:lnTo>
                    <a:pt x="2291880" y="532574"/>
                  </a:lnTo>
                  <a:lnTo>
                    <a:pt x="2311374" y="575081"/>
                  </a:lnTo>
                  <a:lnTo>
                    <a:pt x="2335631" y="614680"/>
                  </a:lnTo>
                  <a:lnTo>
                    <a:pt x="2364270" y="650989"/>
                  </a:lnTo>
                  <a:lnTo>
                    <a:pt x="2396934" y="683653"/>
                  </a:lnTo>
                  <a:lnTo>
                    <a:pt x="2433243" y="712292"/>
                  </a:lnTo>
                  <a:lnTo>
                    <a:pt x="2472842" y="736549"/>
                  </a:lnTo>
                  <a:lnTo>
                    <a:pt x="2515349" y="756043"/>
                  </a:lnTo>
                  <a:lnTo>
                    <a:pt x="2560421" y="770432"/>
                  </a:lnTo>
                  <a:lnTo>
                    <a:pt x="2607665" y="779335"/>
                  </a:lnTo>
                  <a:lnTo>
                    <a:pt x="2656725" y="782383"/>
                  </a:lnTo>
                  <a:lnTo>
                    <a:pt x="2705798" y="779335"/>
                  </a:lnTo>
                  <a:lnTo>
                    <a:pt x="2753042" y="770432"/>
                  </a:lnTo>
                  <a:lnTo>
                    <a:pt x="2798114" y="756043"/>
                  </a:lnTo>
                  <a:lnTo>
                    <a:pt x="2840621" y="736549"/>
                  </a:lnTo>
                  <a:lnTo>
                    <a:pt x="2880220" y="712292"/>
                  </a:lnTo>
                  <a:lnTo>
                    <a:pt x="2916529" y="683653"/>
                  </a:lnTo>
                  <a:lnTo>
                    <a:pt x="2949194" y="650989"/>
                  </a:lnTo>
                  <a:lnTo>
                    <a:pt x="2977832" y="614680"/>
                  </a:lnTo>
                  <a:lnTo>
                    <a:pt x="3002089" y="575081"/>
                  </a:lnTo>
                  <a:lnTo>
                    <a:pt x="3021584" y="532574"/>
                  </a:lnTo>
                  <a:lnTo>
                    <a:pt x="3035973" y="487502"/>
                  </a:lnTo>
                  <a:lnTo>
                    <a:pt x="3037979" y="476846"/>
                  </a:lnTo>
                  <a:lnTo>
                    <a:pt x="5274475" y="476846"/>
                  </a:lnTo>
                  <a:lnTo>
                    <a:pt x="5289715" y="473773"/>
                  </a:lnTo>
                  <a:lnTo>
                    <a:pt x="5302161" y="465378"/>
                  </a:lnTo>
                  <a:lnTo>
                    <a:pt x="5310543" y="452932"/>
                  </a:lnTo>
                  <a:lnTo>
                    <a:pt x="5313616" y="437692"/>
                  </a:lnTo>
                  <a:lnTo>
                    <a:pt x="5313616" y="401688"/>
                  </a:lnTo>
                  <a:close/>
                </a:path>
              </a:pathLst>
            </a:custGeom>
            <a:solidFill>
              <a:srgbClr val="FFBC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94125" y="6443851"/>
              <a:ext cx="301108" cy="3156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763742" y="7005070"/>
            <a:ext cx="4630420" cy="1926589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550" spc="70" dirty="0">
                <a:solidFill>
                  <a:srgbClr val="D4D4D0"/>
                </a:solidFill>
                <a:latin typeface="Tahoma"/>
                <a:cs typeface="Tahoma"/>
              </a:rPr>
              <a:t>Identify</a:t>
            </a:r>
            <a:r>
              <a:rPr sz="2550" spc="-185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550" spc="95" dirty="0">
                <a:solidFill>
                  <a:srgbClr val="D4D4D0"/>
                </a:solidFill>
                <a:latin typeface="Tahoma"/>
                <a:cs typeface="Tahoma"/>
              </a:rPr>
              <a:t>Key</a:t>
            </a:r>
            <a:r>
              <a:rPr sz="2550" spc="-180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550" spc="80" dirty="0">
                <a:solidFill>
                  <a:srgbClr val="D4D4D0"/>
                </a:solidFill>
                <a:latin typeface="Tahoma"/>
                <a:cs typeface="Tahoma"/>
              </a:rPr>
              <a:t>Metrics</a:t>
            </a:r>
            <a:endParaRPr sz="2550">
              <a:latin typeface="Tahoma"/>
              <a:cs typeface="Tahoma"/>
            </a:endParaRPr>
          </a:p>
          <a:p>
            <a:pPr marL="12700" marR="5080">
              <a:lnSpc>
                <a:spcPct val="134400"/>
              </a:lnSpc>
              <a:spcBef>
                <a:spcPts val="509"/>
              </a:spcBef>
            </a:pP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Focus</a:t>
            </a:r>
            <a:r>
              <a:rPr sz="2000" spc="-8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on</a:t>
            </a:r>
            <a:r>
              <a:rPr sz="2000" spc="-8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D4D4D0"/>
                </a:solidFill>
                <a:latin typeface="Roboto"/>
                <a:cs typeface="Roboto"/>
              </a:rPr>
              <a:t>critical</a:t>
            </a:r>
            <a:r>
              <a:rPr sz="2000" spc="-7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D4D4D0"/>
                </a:solidFill>
                <a:latin typeface="Roboto"/>
                <a:cs typeface="Roboto"/>
              </a:rPr>
              <a:t>performance</a:t>
            </a:r>
            <a:r>
              <a:rPr sz="2000" spc="-8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D4D4D0"/>
                </a:solidFill>
                <a:latin typeface="Roboto"/>
                <a:cs typeface="Roboto"/>
              </a:rPr>
              <a:t>indicators, </a:t>
            </a:r>
            <a:r>
              <a:rPr sz="2000" spc="-20" dirty="0">
                <a:solidFill>
                  <a:srgbClr val="D4D4D0"/>
                </a:solidFill>
                <a:latin typeface="Roboto"/>
                <a:cs typeface="Roboto"/>
              </a:rPr>
              <a:t>including</a:t>
            </a:r>
            <a:r>
              <a:rPr sz="200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D4D4D0"/>
                </a:solidFill>
                <a:latin typeface="Roboto"/>
                <a:cs typeface="Roboto"/>
              </a:rPr>
              <a:t>Total</a:t>
            </a:r>
            <a:r>
              <a:rPr sz="2000" b="1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D4D4D0"/>
                </a:solidFill>
                <a:latin typeface="Roboto"/>
                <a:cs typeface="Roboto"/>
              </a:rPr>
              <a:t>Runs,</a:t>
            </a:r>
            <a:r>
              <a:rPr sz="2000" b="1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D4D4D0"/>
                </a:solidFill>
                <a:latin typeface="Roboto"/>
                <a:cs typeface="Roboto"/>
              </a:rPr>
              <a:t>Average,</a:t>
            </a:r>
            <a:r>
              <a:rPr sz="2000" b="1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D4D4D0"/>
                </a:solidFill>
                <a:latin typeface="Roboto"/>
                <a:cs typeface="Roboto"/>
              </a:rPr>
              <a:t>Strike </a:t>
            </a:r>
            <a:r>
              <a:rPr sz="2000" b="1" dirty="0">
                <a:solidFill>
                  <a:srgbClr val="D4D4D0"/>
                </a:solidFill>
                <a:latin typeface="Roboto"/>
                <a:cs typeface="Roboto"/>
              </a:rPr>
              <a:t>Rate,</a:t>
            </a:r>
            <a:r>
              <a:rPr sz="2000" b="1" spc="-6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D4D4D0"/>
                </a:solidFill>
                <a:latin typeface="Roboto"/>
                <a:cs typeface="Roboto"/>
              </a:rPr>
              <a:t>and</a:t>
            </a:r>
            <a:r>
              <a:rPr sz="2000" b="1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b="1" dirty="0">
                <a:solidFill>
                  <a:srgbClr val="D4D4D0"/>
                </a:solidFill>
                <a:latin typeface="Roboto"/>
                <a:cs typeface="Roboto"/>
              </a:rPr>
              <a:t>Boundary</a:t>
            </a:r>
            <a:r>
              <a:rPr sz="2000" b="1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b="1" spc="-10" dirty="0">
                <a:solidFill>
                  <a:srgbClr val="D4D4D0"/>
                </a:solidFill>
                <a:latin typeface="Roboto"/>
                <a:cs typeface="Roboto"/>
              </a:rPr>
              <a:t>Hitting</a:t>
            </a:r>
            <a:r>
              <a:rPr sz="2000" spc="-10" dirty="0">
                <a:solidFill>
                  <a:srgbClr val="D4D4D0"/>
                </a:solidFill>
                <a:latin typeface="Roboto"/>
                <a:cs typeface="Roboto"/>
              </a:rPr>
              <a:t>.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2061477" y="6210002"/>
            <a:ext cx="5313680" cy="3148330"/>
            <a:chOff x="12061477" y="6210002"/>
            <a:chExt cx="5313680" cy="3148330"/>
          </a:xfrm>
        </p:grpSpPr>
        <p:sp>
          <p:nvSpPr>
            <p:cNvPr id="18" name="object 18"/>
            <p:cNvSpPr/>
            <p:nvPr/>
          </p:nvSpPr>
          <p:spPr>
            <a:xfrm>
              <a:off x="12061477" y="6601122"/>
              <a:ext cx="5313680" cy="2757805"/>
            </a:xfrm>
            <a:custGeom>
              <a:avLst/>
              <a:gdLst/>
              <a:ahLst/>
              <a:cxnLst/>
              <a:rect l="l" t="t" r="r" b="b"/>
              <a:pathLst>
                <a:path w="5313680" h="2757804">
                  <a:moveTo>
                    <a:pt x="5176265" y="2757201"/>
                  </a:moveTo>
                  <a:lnTo>
                    <a:pt x="137159" y="2757201"/>
                  </a:lnTo>
                  <a:lnTo>
                    <a:pt x="93817" y="2750206"/>
                  </a:lnTo>
                  <a:lnTo>
                    <a:pt x="56167" y="2730729"/>
                  </a:lnTo>
                  <a:lnTo>
                    <a:pt x="26471" y="2701034"/>
                  </a:lnTo>
                  <a:lnTo>
                    <a:pt x="6995" y="2663384"/>
                  </a:lnTo>
                  <a:lnTo>
                    <a:pt x="0" y="2620041"/>
                  </a:lnTo>
                  <a:lnTo>
                    <a:pt x="0" y="137159"/>
                  </a:lnTo>
                  <a:lnTo>
                    <a:pt x="6995" y="93817"/>
                  </a:lnTo>
                  <a:lnTo>
                    <a:pt x="26471" y="56166"/>
                  </a:lnTo>
                  <a:lnTo>
                    <a:pt x="56167" y="26471"/>
                  </a:lnTo>
                  <a:lnTo>
                    <a:pt x="93817" y="6995"/>
                  </a:lnTo>
                  <a:lnTo>
                    <a:pt x="137159" y="0"/>
                  </a:lnTo>
                  <a:lnTo>
                    <a:pt x="5176265" y="0"/>
                  </a:lnTo>
                  <a:lnTo>
                    <a:pt x="5219608" y="6995"/>
                  </a:lnTo>
                  <a:lnTo>
                    <a:pt x="5257258" y="26471"/>
                  </a:lnTo>
                  <a:lnTo>
                    <a:pt x="5286953" y="56166"/>
                  </a:lnTo>
                  <a:lnTo>
                    <a:pt x="5306430" y="93817"/>
                  </a:lnTo>
                  <a:lnTo>
                    <a:pt x="5313425" y="137159"/>
                  </a:lnTo>
                  <a:lnTo>
                    <a:pt x="5313425" y="2620041"/>
                  </a:lnTo>
                  <a:lnTo>
                    <a:pt x="5306430" y="2663384"/>
                  </a:lnTo>
                  <a:lnTo>
                    <a:pt x="5286953" y="2701034"/>
                  </a:lnTo>
                  <a:lnTo>
                    <a:pt x="5257258" y="2730729"/>
                  </a:lnTo>
                  <a:lnTo>
                    <a:pt x="5219608" y="2750206"/>
                  </a:lnTo>
                  <a:lnTo>
                    <a:pt x="5176265" y="2757201"/>
                  </a:lnTo>
                  <a:close/>
                </a:path>
              </a:pathLst>
            </a:custGeom>
            <a:solidFill>
              <a:srgbClr val="292B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061469" y="6210007"/>
              <a:ext cx="5313680" cy="782955"/>
            </a:xfrm>
            <a:custGeom>
              <a:avLst/>
              <a:gdLst/>
              <a:ahLst/>
              <a:cxnLst/>
              <a:rect l="l" t="t" r="r" b="b"/>
              <a:pathLst>
                <a:path w="5313680" h="782954">
                  <a:moveTo>
                    <a:pt x="5313527" y="401688"/>
                  </a:moveTo>
                  <a:lnTo>
                    <a:pt x="5310441" y="386461"/>
                  </a:lnTo>
                  <a:lnTo>
                    <a:pt x="5302059" y="374015"/>
                  </a:lnTo>
                  <a:lnTo>
                    <a:pt x="5289613" y="365620"/>
                  </a:lnTo>
                  <a:lnTo>
                    <a:pt x="5274373" y="362546"/>
                  </a:lnTo>
                  <a:lnTo>
                    <a:pt x="3046133" y="362546"/>
                  </a:lnTo>
                  <a:lnTo>
                    <a:pt x="3044875" y="342125"/>
                  </a:lnTo>
                  <a:lnTo>
                    <a:pt x="3035973" y="294881"/>
                  </a:lnTo>
                  <a:lnTo>
                    <a:pt x="3021584" y="249809"/>
                  </a:lnTo>
                  <a:lnTo>
                    <a:pt x="3002076" y="207302"/>
                  </a:lnTo>
                  <a:lnTo>
                    <a:pt x="2977819" y="167703"/>
                  </a:lnTo>
                  <a:lnTo>
                    <a:pt x="2949181" y="131394"/>
                  </a:lnTo>
                  <a:lnTo>
                    <a:pt x="2916529" y="98742"/>
                  </a:lnTo>
                  <a:lnTo>
                    <a:pt x="2880220" y="70091"/>
                  </a:lnTo>
                  <a:lnTo>
                    <a:pt x="2840621" y="45834"/>
                  </a:lnTo>
                  <a:lnTo>
                    <a:pt x="2798102" y="26339"/>
                  </a:lnTo>
                  <a:lnTo>
                    <a:pt x="2753042" y="11950"/>
                  </a:lnTo>
                  <a:lnTo>
                    <a:pt x="2705798" y="3048"/>
                  </a:lnTo>
                  <a:lnTo>
                    <a:pt x="2656725" y="0"/>
                  </a:lnTo>
                  <a:lnTo>
                    <a:pt x="2607665" y="3048"/>
                  </a:lnTo>
                  <a:lnTo>
                    <a:pt x="2560409" y="11950"/>
                  </a:lnTo>
                  <a:lnTo>
                    <a:pt x="2515349" y="26339"/>
                  </a:lnTo>
                  <a:lnTo>
                    <a:pt x="2472842" y="45834"/>
                  </a:lnTo>
                  <a:lnTo>
                    <a:pt x="2433243" y="70091"/>
                  </a:lnTo>
                  <a:lnTo>
                    <a:pt x="2396934" y="98742"/>
                  </a:lnTo>
                  <a:lnTo>
                    <a:pt x="2364270" y="131394"/>
                  </a:lnTo>
                  <a:lnTo>
                    <a:pt x="2335631" y="167703"/>
                  </a:lnTo>
                  <a:lnTo>
                    <a:pt x="2311374" y="207302"/>
                  </a:lnTo>
                  <a:lnTo>
                    <a:pt x="2291867" y="249809"/>
                  </a:lnTo>
                  <a:lnTo>
                    <a:pt x="2277491" y="294881"/>
                  </a:lnTo>
                  <a:lnTo>
                    <a:pt x="2268588" y="342125"/>
                  </a:lnTo>
                  <a:lnTo>
                    <a:pt x="2267318" y="362546"/>
                  </a:lnTo>
                  <a:lnTo>
                    <a:pt x="39154" y="362546"/>
                  </a:lnTo>
                  <a:lnTo>
                    <a:pt x="23914" y="365620"/>
                  </a:lnTo>
                  <a:lnTo>
                    <a:pt x="11468" y="374015"/>
                  </a:lnTo>
                  <a:lnTo>
                    <a:pt x="3073" y="386461"/>
                  </a:lnTo>
                  <a:lnTo>
                    <a:pt x="0" y="401688"/>
                  </a:lnTo>
                  <a:lnTo>
                    <a:pt x="0" y="437692"/>
                  </a:lnTo>
                  <a:lnTo>
                    <a:pt x="3073" y="452932"/>
                  </a:lnTo>
                  <a:lnTo>
                    <a:pt x="11468" y="465378"/>
                  </a:lnTo>
                  <a:lnTo>
                    <a:pt x="23914" y="473773"/>
                  </a:lnTo>
                  <a:lnTo>
                    <a:pt x="39154" y="476846"/>
                  </a:lnTo>
                  <a:lnTo>
                    <a:pt x="2275471" y="476846"/>
                  </a:lnTo>
                  <a:lnTo>
                    <a:pt x="2277491" y="487502"/>
                  </a:lnTo>
                  <a:lnTo>
                    <a:pt x="2291867" y="532574"/>
                  </a:lnTo>
                  <a:lnTo>
                    <a:pt x="2311374" y="575081"/>
                  </a:lnTo>
                  <a:lnTo>
                    <a:pt x="2335631" y="614680"/>
                  </a:lnTo>
                  <a:lnTo>
                    <a:pt x="2364270" y="650989"/>
                  </a:lnTo>
                  <a:lnTo>
                    <a:pt x="2396934" y="683653"/>
                  </a:lnTo>
                  <a:lnTo>
                    <a:pt x="2433243" y="712292"/>
                  </a:lnTo>
                  <a:lnTo>
                    <a:pt x="2472842" y="736549"/>
                  </a:lnTo>
                  <a:lnTo>
                    <a:pt x="2515349" y="756043"/>
                  </a:lnTo>
                  <a:lnTo>
                    <a:pt x="2560409" y="770432"/>
                  </a:lnTo>
                  <a:lnTo>
                    <a:pt x="2607665" y="779335"/>
                  </a:lnTo>
                  <a:lnTo>
                    <a:pt x="2656725" y="782383"/>
                  </a:lnTo>
                  <a:lnTo>
                    <a:pt x="2705798" y="779335"/>
                  </a:lnTo>
                  <a:lnTo>
                    <a:pt x="2753042" y="770432"/>
                  </a:lnTo>
                  <a:lnTo>
                    <a:pt x="2798102" y="756043"/>
                  </a:lnTo>
                  <a:lnTo>
                    <a:pt x="2840621" y="736549"/>
                  </a:lnTo>
                  <a:lnTo>
                    <a:pt x="2880220" y="712292"/>
                  </a:lnTo>
                  <a:lnTo>
                    <a:pt x="2916529" y="683653"/>
                  </a:lnTo>
                  <a:lnTo>
                    <a:pt x="2949181" y="650989"/>
                  </a:lnTo>
                  <a:lnTo>
                    <a:pt x="2977819" y="614680"/>
                  </a:lnTo>
                  <a:lnTo>
                    <a:pt x="3002076" y="575081"/>
                  </a:lnTo>
                  <a:lnTo>
                    <a:pt x="3021584" y="532574"/>
                  </a:lnTo>
                  <a:lnTo>
                    <a:pt x="3035973" y="487502"/>
                  </a:lnTo>
                  <a:lnTo>
                    <a:pt x="3037979" y="476846"/>
                  </a:lnTo>
                  <a:lnTo>
                    <a:pt x="5274373" y="476846"/>
                  </a:lnTo>
                  <a:lnTo>
                    <a:pt x="5289613" y="473773"/>
                  </a:lnTo>
                  <a:lnTo>
                    <a:pt x="5302059" y="465378"/>
                  </a:lnTo>
                  <a:lnTo>
                    <a:pt x="5310441" y="452932"/>
                  </a:lnTo>
                  <a:lnTo>
                    <a:pt x="5313527" y="437692"/>
                  </a:lnTo>
                  <a:lnTo>
                    <a:pt x="5313527" y="401688"/>
                  </a:lnTo>
                  <a:close/>
                </a:path>
              </a:pathLst>
            </a:custGeom>
            <a:solidFill>
              <a:srgbClr val="FFBC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68238" y="6447997"/>
              <a:ext cx="301275" cy="30747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2338098" y="7005070"/>
            <a:ext cx="4528185" cy="1926589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2550" spc="70" dirty="0">
                <a:solidFill>
                  <a:srgbClr val="D4D4D0"/>
                </a:solidFill>
                <a:latin typeface="Tahoma"/>
                <a:cs typeface="Tahoma"/>
              </a:rPr>
              <a:t>Evaluate</a:t>
            </a:r>
            <a:r>
              <a:rPr sz="2550" spc="-185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550" spc="65" dirty="0">
                <a:solidFill>
                  <a:srgbClr val="D4D4D0"/>
                </a:solidFill>
                <a:latin typeface="Tahoma"/>
                <a:cs typeface="Tahoma"/>
              </a:rPr>
              <a:t>Consistency</a:t>
            </a:r>
            <a:endParaRPr sz="2550">
              <a:latin typeface="Tahoma"/>
              <a:cs typeface="Tahoma"/>
            </a:endParaRPr>
          </a:p>
          <a:p>
            <a:pPr marL="12700" marR="5080">
              <a:lnSpc>
                <a:spcPct val="134400"/>
              </a:lnSpc>
              <a:spcBef>
                <a:spcPts val="509"/>
              </a:spcBef>
            </a:pP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Assess</a:t>
            </a:r>
            <a:r>
              <a:rPr sz="2000" spc="-6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the</a:t>
            </a:r>
            <a:r>
              <a:rPr sz="200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rate</a:t>
            </a:r>
            <a:r>
              <a:rPr sz="200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of</a:t>
            </a:r>
            <a:r>
              <a:rPr sz="200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spc="-20" dirty="0">
                <a:solidFill>
                  <a:srgbClr val="D4D4D0"/>
                </a:solidFill>
                <a:latin typeface="Roboto"/>
                <a:cs typeface="Roboto"/>
              </a:rPr>
              <a:t>converting</a:t>
            </a:r>
            <a:r>
              <a:rPr sz="200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spc="-20" dirty="0">
                <a:solidFill>
                  <a:srgbClr val="D4D4D0"/>
                </a:solidFill>
                <a:latin typeface="Roboto"/>
                <a:cs typeface="Roboto"/>
              </a:rPr>
              <a:t>starts</a:t>
            </a:r>
            <a:r>
              <a:rPr sz="200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spc="-20" dirty="0">
                <a:solidFill>
                  <a:srgbClr val="D4D4D0"/>
                </a:solidFill>
                <a:latin typeface="Roboto"/>
                <a:cs typeface="Roboto"/>
              </a:rPr>
              <a:t>into </a:t>
            </a: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major</a:t>
            </a:r>
            <a:r>
              <a:rPr sz="2000" spc="-8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scores</a:t>
            </a:r>
            <a:r>
              <a:rPr sz="2000" spc="-8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(50s</a:t>
            </a:r>
            <a:r>
              <a:rPr sz="2000" spc="-8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and</a:t>
            </a:r>
            <a:r>
              <a:rPr sz="2000" spc="-8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100s)</a:t>
            </a:r>
            <a:r>
              <a:rPr sz="2000" spc="-8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D4D4D0"/>
                </a:solidFill>
                <a:latin typeface="Roboto"/>
                <a:cs typeface="Roboto"/>
              </a:rPr>
              <a:t>across</a:t>
            </a:r>
            <a:r>
              <a:rPr sz="2000" spc="-8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spc="-25" dirty="0">
                <a:solidFill>
                  <a:srgbClr val="D4D4D0"/>
                </a:solidFill>
                <a:latin typeface="Roboto"/>
                <a:cs typeface="Roboto"/>
              </a:rPr>
              <a:t>all international</a:t>
            </a:r>
            <a:r>
              <a:rPr sz="2000" spc="-7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formats</a:t>
            </a:r>
            <a:r>
              <a:rPr sz="2000" spc="-7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(ODI,</a:t>
            </a:r>
            <a:r>
              <a:rPr sz="2000" spc="-7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dirty="0">
                <a:solidFill>
                  <a:srgbClr val="D4D4D0"/>
                </a:solidFill>
                <a:latin typeface="Roboto"/>
                <a:cs typeface="Roboto"/>
              </a:rPr>
              <a:t>Test,</a:t>
            </a:r>
            <a:r>
              <a:rPr sz="2000" spc="-7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000" spc="-10" dirty="0">
                <a:solidFill>
                  <a:srgbClr val="D4D4D0"/>
                </a:solidFill>
                <a:latin typeface="Roboto"/>
                <a:cs typeface="Roboto"/>
              </a:rPr>
              <a:t>T20I).</a:t>
            </a:r>
            <a:endParaRPr sz="2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7" y="779327"/>
            <a:ext cx="16229330" cy="873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50" spc="135" dirty="0"/>
              <a:t>Dataset</a:t>
            </a:r>
            <a:r>
              <a:rPr sz="5550" spc="-405" dirty="0"/>
              <a:t> </a:t>
            </a:r>
            <a:r>
              <a:rPr sz="5550" spc="85" dirty="0"/>
              <a:t>Overview:</a:t>
            </a:r>
            <a:r>
              <a:rPr sz="5550" spc="-405" dirty="0"/>
              <a:t> </a:t>
            </a:r>
            <a:r>
              <a:rPr sz="5550" spc="125" dirty="0"/>
              <a:t>Sourcing</a:t>
            </a:r>
            <a:r>
              <a:rPr sz="5550" spc="-405" dirty="0"/>
              <a:t> </a:t>
            </a:r>
            <a:r>
              <a:rPr sz="5550" spc="140" dirty="0"/>
              <a:t>the</a:t>
            </a:r>
            <a:r>
              <a:rPr sz="5550" spc="-405" dirty="0"/>
              <a:t> </a:t>
            </a:r>
            <a:r>
              <a:rPr sz="5550" spc="165" dirty="0"/>
              <a:t>Performance</a:t>
            </a:r>
            <a:r>
              <a:rPr sz="5550" spc="-405" dirty="0"/>
              <a:t> </a:t>
            </a:r>
            <a:r>
              <a:rPr sz="5550" spc="75" dirty="0"/>
              <a:t>Data</a:t>
            </a:r>
            <a:endParaRPr sz="5550"/>
          </a:p>
        </p:txBody>
      </p:sp>
      <p:grpSp>
        <p:nvGrpSpPr>
          <p:cNvPr id="3" name="object 3"/>
          <p:cNvGrpSpPr/>
          <p:nvPr/>
        </p:nvGrpSpPr>
        <p:grpSpPr>
          <a:xfrm>
            <a:off x="987474" y="3494185"/>
            <a:ext cx="16311244" cy="1654810"/>
            <a:chOff x="987474" y="3494185"/>
            <a:chExt cx="16311244" cy="1654810"/>
          </a:xfrm>
        </p:grpSpPr>
        <p:sp>
          <p:nvSpPr>
            <p:cNvPr id="4" name="object 4"/>
            <p:cNvSpPr/>
            <p:nvPr/>
          </p:nvSpPr>
          <p:spPr>
            <a:xfrm>
              <a:off x="987474" y="3494185"/>
              <a:ext cx="16311244" cy="1654810"/>
            </a:xfrm>
            <a:custGeom>
              <a:avLst/>
              <a:gdLst/>
              <a:ahLst/>
              <a:cxnLst/>
              <a:rect l="l" t="t" r="r" b="b"/>
              <a:pathLst>
                <a:path w="16311244" h="1654810">
                  <a:moveTo>
                    <a:pt x="47529" y="1654373"/>
                  </a:moveTo>
                  <a:lnTo>
                    <a:pt x="29052" y="1650683"/>
                  </a:lnTo>
                  <a:lnTo>
                    <a:pt x="13942" y="1640550"/>
                  </a:lnTo>
                  <a:lnTo>
                    <a:pt x="3743" y="1625505"/>
                  </a:lnTo>
                  <a:lnTo>
                    <a:pt x="0" y="1607058"/>
                  </a:lnTo>
                  <a:lnTo>
                    <a:pt x="0" y="47339"/>
                  </a:lnTo>
                  <a:lnTo>
                    <a:pt x="29052" y="3713"/>
                  </a:lnTo>
                  <a:lnTo>
                    <a:pt x="16265556" y="0"/>
                  </a:lnTo>
                  <a:lnTo>
                    <a:pt x="16265556" y="4762"/>
                  </a:lnTo>
                  <a:lnTo>
                    <a:pt x="47529" y="4762"/>
                  </a:lnTo>
                  <a:lnTo>
                    <a:pt x="47529" y="9525"/>
                  </a:lnTo>
                  <a:lnTo>
                    <a:pt x="12503" y="32630"/>
                  </a:lnTo>
                  <a:lnTo>
                    <a:pt x="9525" y="1607058"/>
                  </a:lnTo>
                  <a:lnTo>
                    <a:pt x="12503" y="1621766"/>
                  </a:lnTo>
                  <a:lnTo>
                    <a:pt x="20633" y="1633787"/>
                  </a:lnTo>
                  <a:lnTo>
                    <a:pt x="32710" y="1641897"/>
                  </a:lnTo>
                  <a:lnTo>
                    <a:pt x="47529" y="1644872"/>
                  </a:lnTo>
                  <a:lnTo>
                    <a:pt x="16292660" y="1644872"/>
                  </a:lnTo>
                  <a:lnTo>
                    <a:pt x="16285574" y="1649634"/>
                  </a:lnTo>
                  <a:lnTo>
                    <a:pt x="47529" y="1649634"/>
                  </a:lnTo>
                  <a:lnTo>
                    <a:pt x="47529" y="1654373"/>
                  </a:lnTo>
                  <a:close/>
                </a:path>
                <a:path w="16311244" h="1654810">
                  <a:moveTo>
                    <a:pt x="16292660" y="1644872"/>
                  </a:moveTo>
                  <a:lnTo>
                    <a:pt x="16265556" y="1644872"/>
                  </a:lnTo>
                  <a:lnTo>
                    <a:pt x="16280375" y="1641897"/>
                  </a:lnTo>
                  <a:lnTo>
                    <a:pt x="16292453" y="1633787"/>
                  </a:lnTo>
                  <a:lnTo>
                    <a:pt x="16300584" y="1621766"/>
                  </a:lnTo>
                  <a:lnTo>
                    <a:pt x="16303562" y="1607058"/>
                  </a:lnTo>
                  <a:lnTo>
                    <a:pt x="16303562" y="47339"/>
                  </a:lnTo>
                  <a:lnTo>
                    <a:pt x="16300584" y="32630"/>
                  </a:lnTo>
                  <a:lnTo>
                    <a:pt x="16292453" y="20609"/>
                  </a:lnTo>
                  <a:lnTo>
                    <a:pt x="16280375" y="12500"/>
                  </a:lnTo>
                  <a:lnTo>
                    <a:pt x="16265556" y="9525"/>
                  </a:lnTo>
                  <a:lnTo>
                    <a:pt x="47529" y="9525"/>
                  </a:lnTo>
                  <a:lnTo>
                    <a:pt x="47529" y="4762"/>
                  </a:lnTo>
                  <a:lnTo>
                    <a:pt x="16265556" y="4762"/>
                  </a:lnTo>
                  <a:lnTo>
                    <a:pt x="16265556" y="0"/>
                  </a:lnTo>
                  <a:lnTo>
                    <a:pt x="16284033" y="3713"/>
                  </a:lnTo>
                  <a:lnTo>
                    <a:pt x="16299144" y="13847"/>
                  </a:lnTo>
                  <a:lnTo>
                    <a:pt x="16309344" y="28892"/>
                  </a:lnTo>
                  <a:lnTo>
                    <a:pt x="16311090" y="37496"/>
                  </a:lnTo>
                  <a:lnTo>
                    <a:pt x="16311090" y="1616879"/>
                  </a:lnTo>
                  <a:lnTo>
                    <a:pt x="16309317" y="1625505"/>
                  </a:lnTo>
                  <a:lnTo>
                    <a:pt x="16299091" y="1640550"/>
                  </a:lnTo>
                  <a:lnTo>
                    <a:pt x="16292660" y="1644872"/>
                  </a:lnTo>
                  <a:close/>
                </a:path>
                <a:path w="16311244" h="1654810">
                  <a:moveTo>
                    <a:pt x="16265556" y="1654373"/>
                  </a:moveTo>
                  <a:lnTo>
                    <a:pt x="47529" y="1654373"/>
                  </a:lnTo>
                  <a:lnTo>
                    <a:pt x="47529" y="1649634"/>
                  </a:lnTo>
                  <a:lnTo>
                    <a:pt x="16265556" y="1649634"/>
                  </a:lnTo>
                  <a:lnTo>
                    <a:pt x="16265556" y="1654373"/>
                  </a:lnTo>
                  <a:close/>
                </a:path>
                <a:path w="16311244" h="1654810">
                  <a:moveTo>
                    <a:pt x="16265673" y="1654373"/>
                  </a:moveTo>
                  <a:lnTo>
                    <a:pt x="16265556" y="1649634"/>
                  </a:lnTo>
                  <a:lnTo>
                    <a:pt x="16285574" y="1649634"/>
                  </a:lnTo>
                  <a:lnTo>
                    <a:pt x="16283967" y="1650683"/>
                  </a:lnTo>
                  <a:lnTo>
                    <a:pt x="16265673" y="1654373"/>
                  </a:lnTo>
                  <a:close/>
                </a:path>
              </a:pathLst>
            </a:custGeom>
            <a:solidFill>
              <a:srgbClr val="FFFFFF">
                <a:alpha val="2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1762" y="3508473"/>
              <a:ext cx="16283940" cy="813435"/>
            </a:xfrm>
            <a:custGeom>
              <a:avLst/>
              <a:gdLst/>
              <a:ahLst/>
              <a:cxnLst/>
              <a:rect l="l" t="t" r="r" b="b"/>
              <a:pathLst>
                <a:path w="16283940" h="813435">
                  <a:moveTo>
                    <a:pt x="16283377" y="812898"/>
                  </a:moveTo>
                  <a:lnTo>
                    <a:pt x="0" y="812898"/>
                  </a:lnTo>
                  <a:lnTo>
                    <a:pt x="0" y="0"/>
                  </a:lnTo>
                  <a:lnTo>
                    <a:pt x="16283377" y="0"/>
                  </a:lnTo>
                  <a:lnTo>
                    <a:pt x="16283377" y="812898"/>
                  </a:lnTo>
                  <a:close/>
                </a:path>
              </a:pathLst>
            </a:custGeom>
            <a:solidFill>
              <a:srgbClr val="FFFFFF">
                <a:alpha val="3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79537" y="2113196"/>
            <a:ext cx="15990569" cy="18884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90"/>
              </a:spcBef>
            </a:pP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The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analysis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is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built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upon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comprehensive,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65" dirty="0">
                <a:solidFill>
                  <a:srgbClr val="D4D4D0"/>
                </a:solidFill>
                <a:latin typeface="Roboto"/>
                <a:cs typeface="Roboto"/>
              </a:rPr>
              <a:t>custom-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compiled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dataset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tracking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all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of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Virat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Kohli's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international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matches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from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b="1" spc="-20" dirty="0">
                <a:solidFill>
                  <a:srgbClr val="D4D4D0"/>
                </a:solidFill>
                <a:latin typeface="Roboto"/>
                <a:cs typeface="Roboto"/>
              </a:rPr>
              <a:t>2008 </a:t>
            </a:r>
            <a:r>
              <a:rPr sz="2150" b="1" dirty="0">
                <a:solidFill>
                  <a:srgbClr val="D4D4D0"/>
                </a:solidFill>
                <a:latin typeface="Roboto"/>
                <a:cs typeface="Roboto"/>
              </a:rPr>
              <a:t>through</a:t>
            </a:r>
            <a:r>
              <a:rPr sz="2150" b="1" spc="4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b="1" dirty="0">
                <a:solidFill>
                  <a:srgbClr val="D4D4D0"/>
                </a:solidFill>
                <a:latin typeface="Roboto"/>
                <a:cs typeface="Roboto"/>
              </a:rPr>
              <a:t>the</a:t>
            </a:r>
            <a:r>
              <a:rPr sz="2150" b="1" spc="4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b="1" dirty="0">
                <a:solidFill>
                  <a:srgbClr val="D4D4D0"/>
                </a:solidFill>
                <a:latin typeface="Roboto"/>
                <a:cs typeface="Roboto"/>
              </a:rPr>
              <a:t>end</a:t>
            </a:r>
            <a:r>
              <a:rPr sz="2150" b="1" spc="4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b="1" dirty="0">
                <a:solidFill>
                  <a:srgbClr val="D4D4D0"/>
                </a:solidFill>
                <a:latin typeface="Roboto"/>
                <a:cs typeface="Roboto"/>
              </a:rPr>
              <a:t>of</a:t>
            </a:r>
            <a:r>
              <a:rPr sz="2150" b="1" spc="4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b="1" spc="-20" dirty="0">
                <a:solidFill>
                  <a:srgbClr val="D4D4D0"/>
                </a:solidFill>
                <a:latin typeface="Roboto"/>
                <a:cs typeface="Roboto"/>
              </a:rPr>
              <a:t>2025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.</a:t>
            </a:r>
            <a:endParaRPr sz="21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460"/>
              </a:spcBef>
            </a:pPr>
            <a:endParaRPr sz="2150">
              <a:latin typeface="Roboto"/>
              <a:cs typeface="Roboto"/>
            </a:endParaRPr>
          </a:p>
          <a:p>
            <a:pPr marL="305435">
              <a:lnSpc>
                <a:spcPct val="100000"/>
              </a:lnSpc>
              <a:tabLst>
                <a:tab pos="3566795" algn="l"/>
              </a:tabLst>
            </a:pPr>
            <a:r>
              <a:rPr sz="2150" b="1" spc="-10" dirty="0">
                <a:solidFill>
                  <a:srgbClr val="D4D4D0"/>
                </a:solidFill>
                <a:latin typeface="Roboto"/>
                <a:cs typeface="Roboto"/>
              </a:rPr>
              <a:t>Source</a:t>
            </a:r>
            <a:r>
              <a:rPr sz="2150" b="1" dirty="0">
                <a:solidFill>
                  <a:srgbClr val="D4D4D0"/>
                </a:solidFill>
                <a:latin typeface="Roboto"/>
                <a:cs typeface="Roboto"/>
              </a:rPr>
              <a:t>	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Custom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Cricket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Statistics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Dataset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(2008–2025)</a:t>
            </a:r>
            <a:endParaRPr sz="215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1762" y="4321373"/>
            <a:ext cx="16283940" cy="813435"/>
          </a:xfrm>
          <a:prstGeom prst="rect">
            <a:avLst/>
          </a:prstGeom>
          <a:solidFill>
            <a:srgbClr val="000000">
              <a:alpha val="3999"/>
            </a:srgbClr>
          </a:solidFill>
        </p:spPr>
        <p:txBody>
          <a:bodyPr vert="horz" wrap="square" lIns="0" tIns="151765" rIns="0" bIns="0" rtlCol="0">
            <a:spAutoFit/>
          </a:bodyPr>
          <a:lstStyle/>
          <a:p>
            <a:pPr marL="283210">
              <a:lnSpc>
                <a:spcPct val="100000"/>
              </a:lnSpc>
              <a:spcBef>
                <a:spcPts val="1195"/>
              </a:spcBef>
              <a:tabLst>
                <a:tab pos="3544570" algn="l"/>
              </a:tabLst>
            </a:pPr>
            <a:r>
              <a:rPr sz="2150" b="1" spc="-10" dirty="0">
                <a:solidFill>
                  <a:srgbClr val="D4D4D0"/>
                </a:solidFill>
                <a:latin typeface="Roboto"/>
                <a:cs typeface="Roboto"/>
              </a:rPr>
              <a:t>Scope</a:t>
            </a:r>
            <a:r>
              <a:rPr sz="2150" b="1" dirty="0">
                <a:solidFill>
                  <a:srgbClr val="D4D4D0"/>
                </a:solidFill>
                <a:latin typeface="Roboto"/>
                <a:cs typeface="Roboto"/>
              </a:rPr>
              <a:t>	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One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Day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Internationals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(ODI),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Test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Matches,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and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Twenty20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Internationals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(T20I)</a:t>
            </a:r>
            <a:endParaRPr sz="215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92237" y="5462735"/>
            <a:ext cx="8010525" cy="850900"/>
            <a:chOff x="992237" y="5462735"/>
            <a:chExt cx="8010525" cy="850900"/>
          </a:xfrm>
        </p:grpSpPr>
        <p:sp>
          <p:nvSpPr>
            <p:cNvPr id="9" name="object 9"/>
            <p:cNvSpPr/>
            <p:nvPr/>
          </p:nvSpPr>
          <p:spPr>
            <a:xfrm>
              <a:off x="992237" y="5462735"/>
              <a:ext cx="8010525" cy="850900"/>
            </a:xfrm>
            <a:custGeom>
              <a:avLst/>
              <a:gdLst/>
              <a:ahLst/>
              <a:cxnLst/>
              <a:rect l="l" t="t" r="r" b="b"/>
              <a:pathLst>
                <a:path w="8010525" h="850900">
                  <a:moveTo>
                    <a:pt x="7584662" y="850582"/>
                  </a:moveTo>
                  <a:lnTo>
                    <a:pt x="425291" y="850582"/>
                  </a:lnTo>
                  <a:lnTo>
                    <a:pt x="378950" y="848087"/>
                  </a:lnTo>
                  <a:lnTo>
                    <a:pt x="334054" y="840773"/>
                  </a:lnTo>
                  <a:lnTo>
                    <a:pt x="290864" y="828901"/>
                  </a:lnTo>
                  <a:lnTo>
                    <a:pt x="249638" y="812730"/>
                  </a:lnTo>
                  <a:lnTo>
                    <a:pt x="210636" y="792518"/>
                  </a:lnTo>
                  <a:lnTo>
                    <a:pt x="174117" y="768527"/>
                  </a:lnTo>
                  <a:lnTo>
                    <a:pt x="140341" y="741014"/>
                  </a:lnTo>
                  <a:lnTo>
                    <a:pt x="109567" y="710240"/>
                  </a:lnTo>
                  <a:lnTo>
                    <a:pt x="82055" y="676464"/>
                  </a:lnTo>
                  <a:lnTo>
                    <a:pt x="58063" y="639946"/>
                  </a:lnTo>
                  <a:lnTo>
                    <a:pt x="37852" y="600944"/>
                  </a:lnTo>
                  <a:lnTo>
                    <a:pt x="21681" y="559718"/>
                  </a:lnTo>
                  <a:lnTo>
                    <a:pt x="9809" y="516527"/>
                  </a:lnTo>
                  <a:lnTo>
                    <a:pt x="2495" y="471632"/>
                  </a:lnTo>
                  <a:lnTo>
                    <a:pt x="0" y="425291"/>
                  </a:lnTo>
                  <a:lnTo>
                    <a:pt x="2495" y="378950"/>
                  </a:lnTo>
                  <a:lnTo>
                    <a:pt x="9809" y="334055"/>
                  </a:lnTo>
                  <a:lnTo>
                    <a:pt x="21681" y="290864"/>
                  </a:lnTo>
                  <a:lnTo>
                    <a:pt x="37852" y="249638"/>
                  </a:lnTo>
                  <a:lnTo>
                    <a:pt x="58063" y="210636"/>
                  </a:lnTo>
                  <a:lnTo>
                    <a:pt x="82055" y="174117"/>
                  </a:lnTo>
                  <a:lnTo>
                    <a:pt x="109567" y="140341"/>
                  </a:lnTo>
                  <a:lnTo>
                    <a:pt x="140341" y="109567"/>
                  </a:lnTo>
                  <a:lnTo>
                    <a:pt x="174117" y="82055"/>
                  </a:lnTo>
                  <a:lnTo>
                    <a:pt x="210636" y="58063"/>
                  </a:lnTo>
                  <a:lnTo>
                    <a:pt x="249638" y="37852"/>
                  </a:lnTo>
                  <a:lnTo>
                    <a:pt x="290864" y="21681"/>
                  </a:lnTo>
                  <a:lnTo>
                    <a:pt x="334054" y="9809"/>
                  </a:lnTo>
                  <a:lnTo>
                    <a:pt x="378950" y="2495"/>
                  </a:lnTo>
                  <a:lnTo>
                    <a:pt x="425291" y="0"/>
                  </a:lnTo>
                  <a:lnTo>
                    <a:pt x="7584662" y="0"/>
                  </a:lnTo>
                  <a:lnTo>
                    <a:pt x="7631003" y="2495"/>
                  </a:lnTo>
                  <a:lnTo>
                    <a:pt x="7675898" y="9809"/>
                  </a:lnTo>
                  <a:lnTo>
                    <a:pt x="7719089" y="21681"/>
                  </a:lnTo>
                  <a:lnTo>
                    <a:pt x="7760315" y="37852"/>
                  </a:lnTo>
                  <a:lnTo>
                    <a:pt x="7799317" y="58063"/>
                  </a:lnTo>
                  <a:lnTo>
                    <a:pt x="7835836" y="82055"/>
                  </a:lnTo>
                  <a:lnTo>
                    <a:pt x="7869612" y="109567"/>
                  </a:lnTo>
                  <a:lnTo>
                    <a:pt x="7900386" y="140341"/>
                  </a:lnTo>
                  <a:lnTo>
                    <a:pt x="7927899" y="174117"/>
                  </a:lnTo>
                  <a:lnTo>
                    <a:pt x="7951890" y="210636"/>
                  </a:lnTo>
                  <a:lnTo>
                    <a:pt x="7972102" y="249638"/>
                  </a:lnTo>
                  <a:lnTo>
                    <a:pt x="7988273" y="290864"/>
                  </a:lnTo>
                  <a:lnTo>
                    <a:pt x="8000145" y="334055"/>
                  </a:lnTo>
                  <a:lnTo>
                    <a:pt x="8007459" y="378950"/>
                  </a:lnTo>
                  <a:lnTo>
                    <a:pt x="8009954" y="425291"/>
                  </a:lnTo>
                  <a:lnTo>
                    <a:pt x="8007459" y="471632"/>
                  </a:lnTo>
                  <a:lnTo>
                    <a:pt x="8000145" y="516527"/>
                  </a:lnTo>
                  <a:lnTo>
                    <a:pt x="7988273" y="559718"/>
                  </a:lnTo>
                  <a:lnTo>
                    <a:pt x="7972102" y="600944"/>
                  </a:lnTo>
                  <a:lnTo>
                    <a:pt x="7951890" y="639946"/>
                  </a:lnTo>
                  <a:lnTo>
                    <a:pt x="7927899" y="676464"/>
                  </a:lnTo>
                  <a:lnTo>
                    <a:pt x="7900386" y="710240"/>
                  </a:lnTo>
                  <a:lnTo>
                    <a:pt x="7869612" y="741014"/>
                  </a:lnTo>
                  <a:lnTo>
                    <a:pt x="7835836" y="768527"/>
                  </a:lnTo>
                  <a:lnTo>
                    <a:pt x="7799317" y="792518"/>
                  </a:lnTo>
                  <a:lnTo>
                    <a:pt x="7760315" y="812730"/>
                  </a:lnTo>
                  <a:lnTo>
                    <a:pt x="7719089" y="828901"/>
                  </a:lnTo>
                  <a:lnTo>
                    <a:pt x="7675898" y="840773"/>
                  </a:lnTo>
                  <a:lnTo>
                    <a:pt x="7631003" y="848087"/>
                  </a:lnTo>
                  <a:lnTo>
                    <a:pt x="7584662" y="850582"/>
                  </a:lnTo>
                  <a:close/>
                </a:path>
              </a:pathLst>
            </a:custGeom>
            <a:solidFill>
              <a:srgbClr val="484A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803541" y="5692566"/>
              <a:ext cx="391160" cy="394335"/>
            </a:xfrm>
            <a:custGeom>
              <a:avLst/>
              <a:gdLst/>
              <a:ahLst/>
              <a:cxnLst/>
              <a:rect l="l" t="t" r="r" b="b"/>
              <a:pathLst>
                <a:path w="391160" h="394335">
                  <a:moveTo>
                    <a:pt x="71082" y="42937"/>
                  </a:moveTo>
                  <a:lnTo>
                    <a:pt x="88724" y="78880"/>
                  </a:lnTo>
                  <a:lnTo>
                    <a:pt x="92793" y="78869"/>
                  </a:lnTo>
                  <a:lnTo>
                    <a:pt x="111000" y="46588"/>
                  </a:lnTo>
                  <a:lnTo>
                    <a:pt x="110982" y="33069"/>
                  </a:lnTo>
                  <a:lnTo>
                    <a:pt x="90276" y="0"/>
                  </a:lnTo>
                  <a:lnTo>
                    <a:pt x="86662" y="519"/>
                  </a:lnTo>
                  <a:lnTo>
                    <a:pt x="71082" y="29457"/>
                  </a:lnTo>
                  <a:lnTo>
                    <a:pt x="71082" y="42937"/>
                  </a:lnTo>
                </a:path>
                <a:path w="391160" h="394335">
                  <a:moveTo>
                    <a:pt x="242393" y="44683"/>
                  </a:moveTo>
                  <a:lnTo>
                    <a:pt x="260139" y="79012"/>
                  </a:lnTo>
                  <a:lnTo>
                    <a:pt x="264584" y="78951"/>
                  </a:lnTo>
                  <a:lnTo>
                    <a:pt x="281582" y="63682"/>
                  </a:lnTo>
                  <a:lnTo>
                    <a:pt x="282326" y="58566"/>
                  </a:lnTo>
                </a:path>
                <a:path w="391160" h="394335">
                  <a:moveTo>
                    <a:pt x="298403" y="295913"/>
                  </a:moveTo>
                  <a:lnTo>
                    <a:pt x="298907" y="299449"/>
                  </a:lnTo>
                  <a:lnTo>
                    <a:pt x="299684" y="301212"/>
                  </a:lnTo>
                  <a:lnTo>
                    <a:pt x="300852" y="302868"/>
                  </a:lnTo>
                  <a:lnTo>
                    <a:pt x="329007" y="330952"/>
                  </a:lnTo>
                </a:path>
                <a:path w="391160" h="394335">
                  <a:moveTo>
                    <a:pt x="352988" y="77011"/>
                  </a:moveTo>
                  <a:lnTo>
                    <a:pt x="333610" y="43443"/>
                  </a:lnTo>
                  <a:lnTo>
                    <a:pt x="310206" y="38100"/>
                  </a:lnTo>
                  <a:lnTo>
                    <a:pt x="282487" y="37628"/>
                  </a:lnTo>
                </a:path>
                <a:path w="391160" h="394335">
                  <a:moveTo>
                    <a:pt x="40788" y="364606"/>
                  </a:moveTo>
                  <a:lnTo>
                    <a:pt x="5757" y="346109"/>
                  </a:lnTo>
                  <a:lnTo>
                    <a:pt x="25" y="322886"/>
                  </a:lnTo>
                  <a:lnTo>
                    <a:pt x="0" y="312692"/>
                  </a:lnTo>
                </a:path>
                <a:path w="391160" h="394335">
                  <a:moveTo>
                    <a:pt x="54" y="77403"/>
                  </a:moveTo>
                  <a:lnTo>
                    <a:pt x="19820" y="43026"/>
                  </a:lnTo>
                  <a:lnTo>
                    <a:pt x="35648" y="38273"/>
                  </a:lnTo>
                  <a:lnTo>
                    <a:pt x="71155" y="37817"/>
                  </a:lnTo>
                </a:path>
                <a:path w="391160" h="394335">
                  <a:moveTo>
                    <a:pt x="281975" y="16118"/>
                  </a:moveTo>
                  <a:lnTo>
                    <a:pt x="260452" y="128"/>
                  </a:lnTo>
                  <a:lnTo>
                    <a:pt x="256066" y="1042"/>
                  </a:lnTo>
                  <a:lnTo>
                    <a:pt x="242433" y="34055"/>
                  </a:lnTo>
                  <a:lnTo>
                    <a:pt x="242393" y="44683"/>
                  </a:lnTo>
                </a:path>
                <a:path w="391160" h="394335">
                  <a:moveTo>
                    <a:pt x="390593" y="301942"/>
                  </a:moveTo>
                  <a:lnTo>
                    <a:pt x="381284" y="342705"/>
                  </a:lnTo>
                  <a:lnTo>
                    <a:pt x="375097" y="353023"/>
                  </a:lnTo>
                  <a:lnTo>
                    <a:pt x="371743" y="358043"/>
                  </a:lnTo>
                  <a:lnTo>
                    <a:pt x="349730" y="378391"/>
                  </a:lnTo>
                  <a:lnTo>
                    <a:pt x="344710" y="381745"/>
                  </a:lnTo>
                  <a:lnTo>
                    <a:pt x="304686" y="393886"/>
                  </a:lnTo>
                  <a:lnTo>
                    <a:pt x="298649" y="393886"/>
                  </a:lnTo>
                  <a:lnTo>
                    <a:pt x="292612" y="393886"/>
                  </a:lnTo>
                  <a:lnTo>
                    <a:pt x="252587" y="381745"/>
                  </a:lnTo>
                  <a:lnTo>
                    <a:pt x="247568" y="378391"/>
                  </a:lnTo>
                  <a:lnTo>
                    <a:pt x="242548" y="375037"/>
                  </a:lnTo>
                  <a:lnTo>
                    <a:pt x="222200" y="353023"/>
                  </a:lnTo>
                  <a:lnTo>
                    <a:pt x="218846" y="348004"/>
                  </a:lnTo>
                  <a:lnTo>
                    <a:pt x="206705" y="307979"/>
                  </a:lnTo>
                  <a:lnTo>
                    <a:pt x="206705" y="301942"/>
                  </a:lnTo>
                  <a:lnTo>
                    <a:pt x="206705" y="295905"/>
                  </a:lnTo>
                  <a:lnTo>
                    <a:pt x="218846" y="255881"/>
                  </a:lnTo>
                  <a:lnTo>
                    <a:pt x="222200" y="250861"/>
                  </a:lnTo>
                  <a:lnTo>
                    <a:pt x="225554" y="245841"/>
                  </a:lnTo>
                  <a:lnTo>
                    <a:pt x="229366" y="241197"/>
                  </a:lnTo>
                  <a:lnTo>
                    <a:pt x="233635" y="236928"/>
                  </a:lnTo>
                  <a:lnTo>
                    <a:pt x="237904" y="232659"/>
                  </a:lnTo>
                  <a:lnTo>
                    <a:pt x="242548" y="228848"/>
                  </a:lnTo>
                  <a:lnTo>
                    <a:pt x="247568" y="225494"/>
                  </a:lnTo>
                  <a:lnTo>
                    <a:pt x="252587" y="222140"/>
                  </a:lnTo>
                  <a:lnTo>
                    <a:pt x="280712" y="211765"/>
                  </a:lnTo>
                  <a:lnTo>
                    <a:pt x="286633" y="210587"/>
                  </a:lnTo>
                  <a:lnTo>
                    <a:pt x="292612" y="209998"/>
                  </a:lnTo>
                  <a:lnTo>
                    <a:pt x="298649" y="209998"/>
                  </a:lnTo>
                  <a:lnTo>
                    <a:pt x="304686" y="209998"/>
                  </a:lnTo>
                  <a:lnTo>
                    <a:pt x="310665" y="210587"/>
                  </a:lnTo>
                  <a:lnTo>
                    <a:pt x="316586" y="211765"/>
                  </a:lnTo>
                  <a:lnTo>
                    <a:pt x="322507" y="212943"/>
                  </a:lnTo>
                  <a:lnTo>
                    <a:pt x="349730" y="225494"/>
                  </a:lnTo>
                  <a:lnTo>
                    <a:pt x="354750" y="228848"/>
                  </a:lnTo>
                  <a:lnTo>
                    <a:pt x="375097" y="250861"/>
                  </a:lnTo>
                  <a:lnTo>
                    <a:pt x="378451" y="255881"/>
                  </a:lnTo>
                  <a:lnTo>
                    <a:pt x="388826" y="284005"/>
                  </a:lnTo>
                  <a:lnTo>
                    <a:pt x="390004" y="289926"/>
                  </a:lnTo>
                  <a:lnTo>
                    <a:pt x="390593" y="295905"/>
                  </a:lnTo>
                  <a:lnTo>
                    <a:pt x="390593" y="301942"/>
                  </a:lnTo>
                  <a:close/>
                </a:path>
                <a:path w="391160" h="394335">
                  <a:moveTo>
                    <a:pt x="353037" y="124687"/>
                  </a:moveTo>
                  <a:lnTo>
                    <a:pt x="52" y="124681"/>
                  </a:lnTo>
                </a:path>
                <a:path w="391160" h="394335">
                  <a:moveTo>
                    <a:pt x="353119" y="226984"/>
                  </a:moveTo>
                  <a:lnTo>
                    <a:pt x="352988" y="77011"/>
                  </a:lnTo>
                </a:path>
                <a:path w="391160" h="394335">
                  <a:moveTo>
                    <a:pt x="229685" y="364732"/>
                  </a:moveTo>
                  <a:lnTo>
                    <a:pt x="40788" y="364606"/>
                  </a:lnTo>
                </a:path>
                <a:path w="391160" h="394335">
                  <a:moveTo>
                    <a:pt x="51" y="119409"/>
                  </a:moveTo>
                  <a:lnTo>
                    <a:pt x="54" y="77403"/>
                  </a:lnTo>
                </a:path>
                <a:path w="391160" h="394335">
                  <a:moveTo>
                    <a:pt x="242388" y="37883"/>
                  </a:moveTo>
                  <a:lnTo>
                    <a:pt x="111174" y="37846"/>
                  </a:lnTo>
                </a:path>
                <a:path w="391160" h="394335">
                  <a:moveTo>
                    <a:pt x="298337" y="246786"/>
                  </a:moveTo>
                  <a:lnTo>
                    <a:pt x="298403" y="295913"/>
                  </a:lnTo>
                </a:path>
                <a:path w="391160" h="394335">
                  <a:moveTo>
                    <a:pt x="0" y="312692"/>
                  </a:moveTo>
                  <a:lnTo>
                    <a:pt x="51" y="119409"/>
                  </a:lnTo>
                </a:path>
                <a:path w="391160" h="394335">
                  <a:moveTo>
                    <a:pt x="282326" y="58566"/>
                  </a:moveTo>
                  <a:lnTo>
                    <a:pt x="281975" y="16118"/>
                  </a:lnTo>
                </a:path>
              </a:pathLst>
            </a:custGeom>
            <a:ln w="17433">
              <a:solidFill>
                <a:srgbClr val="D4D4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63054" y="6559563"/>
            <a:ext cx="232918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spc="70" dirty="0">
                <a:solidFill>
                  <a:srgbClr val="D4D4D0"/>
                </a:solidFill>
                <a:latin typeface="Tahoma"/>
                <a:cs typeface="Tahoma"/>
              </a:rPr>
              <a:t>Year</a:t>
            </a:r>
            <a:r>
              <a:rPr sz="2750" spc="-215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750" spc="90" dirty="0">
                <a:solidFill>
                  <a:srgbClr val="D4D4D0"/>
                </a:solidFill>
                <a:latin typeface="Tahoma"/>
                <a:cs typeface="Tahoma"/>
              </a:rPr>
              <a:t>&amp;</a:t>
            </a:r>
            <a:r>
              <a:rPr sz="2750" spc="-210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750" spc="65" dirty="0">
                <a:solidFill>
                  <a:srgbClr val="D4D4D0"/>
                </a:solidFill>
                <a:latin typeface="Tahoma"/>
                <a:cs typeface="Tahoma"/>
              </a:rPr>
              <a:t>Format</a:t>
            </a:r>
            <a:endParaRPr sz="27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285685" y="5462735"/>
            <a:ext cx="8010525" cy="850900"/>
            <a:chOff x="9285685" y="5462735"/>
            <a:chExt cx="8010525" cy="850900"/>
          </a:xfrm>
        </p:grpSpPr>
        <p:sp>
          <p:nvSpPr>
            <p:cNvPr id="13" name="object 13"/>
            <p:cNvSpPr/>
            <p:nvPr/>
          </p:nvSpPr>
          <p:spPr>
            <a:xfrm>
              <a:off x="9285685" y="5462735"/>
              <a:ext cx="8010525" cy="850900"/>
            </a:xfrm>
            <a:custGeom>
              <a:avLst/>
              <a:gdLst/>
              <a:ahLst/>
              <a:cxnLst/>
              <a:rect l="l" t="t" r="r" b="b"/>
              <a:pathLst>
                <a:path w="8010525" h="850900">
                  <a:moveTo>
                    <a:pt x="7584758" y="850582"/>
                  </a:moveTo>
                  <a:lnTo>
                    <a:pt x="425291" y="850582"/>
                  </a:lnTo>
                  <a:lnTo>
                    <a:pt x="378950" y="848087"/>
                  </a:lnTo>
                  <a:lnTo>
                    <a:pt x="334055" y="840773"/>
                  </a:lnTo>
                  <a:lnTo>
                    <a:pt x="290864" y="828901"/>
                  </a:lnTo>
                  <a:lnTo>
                    <a:pt x="249638" y="812730"/>
                  </a:lnTo>
                  <a:lnTo>
                    <a:pt x="210636" y="792518"/>
                  </a:lnTo>
                  <a:lnTo>
                    <a:pt x="174117" y="768527"/>
                  </a:lnTo>
                  <a:lnTo>
                    <a:pt x="140341" y="741014"/>
                  </a:lnTo>
                  <a:lnTo>
                    <a:pt x="109567" y="710240"/>
                  </a:lnTo>
                  <a:lnTo>
                    <a:pt x="82055" y="676464"/>
                  </a:lnTo>
                  <a:lnTo>
                    <a:pt x="58063" y="639946"/>
                  </a:lnTo>
                  <a:lnTo>
                    <a:pt x="37852" y="600944"/>
                  </a:lnTo>
                  <a:lnTo>
                    <a:pt x="21681" y="559718"/>
                  </a:lnTo>
                  <a:lnTo>
                    <a:pt x="9809" y="516527"/>
                  </a:lnTo>
                  <a:lnTo>
                    <a:pt x="2495" y="471632"/>
                  </a:lnTo>
                  <a:lnTo>
                    <a:pt x="0" y="425291"/>
                  </a:lnTo>
                  <a:lnTo>
                    <a:pt x="2495" y="378950"/>
                  </a:lnTo>
                  <a:lnTo>
                    <a:pt x="9809" y="334055"/>
                  </a:lnTo>
                  <a:lnTo>
                    <a:pt x="21681" y="290864"/>
                  </a:lnTo>
                  <a:lnTo>
                    <a:pt x="37852" y="249638"/>
                  </a:lnTo>
                  <a:lnTo>
                    <a:pt x="58063" y="210636"/>
                  </a:lnTo>
                  <a:lnTo>
                    <a:pt x="82055" y="174117"/>
                  </a:lnTo>
                  <a:lnTo>
                    <a:pt x="109567" y="140341"/>
                  </a:lnTo>
                  <a:lnTo>
                    <a:pt x="140341" y="109567"/>
                  </a:lnTo>
                  <a:lnTo>
                    <a:pt x="174117" y="82055"/>
                  </a:lnTo>
                  <a:lnTo>
                    <a:pt x="210636" y="58063"/>
                  </a:lnTo>
                  <a:lnTo>
                    <a:pt x="249638" y="37852"/>
                  </a:lnTo>
                  <a:lnTo>
                    <a:pt x="290864" y="21681"/>
                  </a:lnTo>
                  <a:lnTo>
                    <a:pt x="334055" y="9809"/>
                  </a:lnTo>
                  <a:lnTo>
                    <a:pt x="378950" y="2495"/>
                  </a:lnTo>
                  <a:lnTo>
                    <a:pt x="425291" y="0"/>
                  </a:lnTo>
                  <a:lnTo>
                    <a:pt x="7584758" y="0"/>
                  </a:lnTo>
                  <a:lnTo>
                    <a:pt x="7631099" y="2495"/>
                  </a:lnTo>
                  <a:lnTo>
                    <a:pt x="7675994" y="9809"/>
                  </a:lnTo>
                  <a:lnTo>
                    <a:pt x="7719185" y="21681"/>
                  </a:lnTo>
                  <a:lnTo>
                    <a:pt x="7760410" y="37852"/>
                  </a:lnTo>
                  <a:lnTo>
                    <a:pt x="7799412" y="58063"/>
                  </a:lnTo>
                  <a:lnTo>
                    <a:pt x="7835931" y="82055"/>
                  </a:lnTo>
                  <a:lnTo>
                    <a:pt x="7869707" y="109567"/>
                  </a:lnTo>
                  <a:lnTo>
                    <a:pt x="7900481" y="140341"/>
                  </a:lnTo>
                  <a:lnTo>
                    <a:pt x="7927993" y="174117"/>
                  </a:lnTo>
                  <a:lnTo>
                    <a:pt x="7951984" y="210636"/>
                  </a:lnTo>
                  <a:lnTo>
                    <a:pt x="7972195" y="249638"/>
                  </a:lnTo>
                  <a:lnTo>
                    <a:pt x="7988367" y="290864"/>
                  </a:lnTo>
                  <a:lnTo>
                    <a:pt x="8000239" y="334055"/>
                  </a:lnTo>
                  <a:lnTo>
                    <a:pt x="8007552" y="378950"/>
                  </a:lnTo>
                  <a:lnTo>
                    <a:pt x="8010048" y="425291"/>
                  </a:lnTo>
                  <a:lnTo>
                    <a:pt x="8007552" y="471632"/>
                  </a:lnTo>
                  <a:lnTo>
                    <a:pt x="8000239" y="516527"/>
                  </a:lnTo>
                  <a:lnTo>
                    <a:pt x="7988367" y="559718"/>
                  </a:lnTo>
                  <a:lnTo>
                    <a:pt x="7972195" y="600944"/>
                  </a:lnTo>
                  <a:lnTo>
                    <a:pt x="7951984" y="639946"/>
                  </a:lnTo>
                  <a:lnTo>
                    <a:pt x="7927993" y="676464"/>
                  </a:lnTo>
                  <a:lnTo>
                    <a:pt x="7900481" y="710240"/>
                  </a:lnTo>
                  <a:lnTo>
                    <a:pt x="7869707" y="741014"/>
                  </a:lnTo>
                  <a:lnTo>
                    <a:pt x="7835931" y="768527"/>
                  </a:lnTo>
                  <a:lnTo>
                    <a:pt x="7799412" y="792518"/>
                  </a:lnTo>
                  <a:lnTo>
                    <a:pt x="7760410" y="812730"/>
                  </a:lnTo>
                  <a:lnTo>
                    <a:pt x="7719185" y="828901"/>
                  </a:lnTo>
                  <a:lnTo>
                    <a:pt x="7675994" y="840773"/>
                  </a:lnTo>
                  <a:lnTo>
                    <a:pt x="7631099" y="848087"/>
                  </a:lnTo>
                  <a:lnTo>
                    <a:pt x="7584758" y="850582"/>
                  </a:lnTo>
                  <a:close/>
                </a:path>
              </a:pathLst>
            </a:custGeom>
            <a:solidFill>
              <a:srgbClr val="484A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096547" y="5730019"/>
              <a:ext cx="392430" cy="368300"/>
            </a:xfrm>
            <a:custGeom>
              <a:avLst/>
              <a:gdLst/>
              <a:ahLst/>
              <a:cxnLst/>
              <a:rect l="l" t="t" r="r" b="b"/>
              <a:pathLst>
                <a:path w="392430" h="368300">
                  <a:moveTo>
                    <a:pt x="365901" y="210964"/>
                  </a:moveTo>
                  <a:lnTo>
                    <a:pt x="369998" y="210421"/>
                  </a:lnTo>
                  <a:lnTo>
                    <a:pt x="376495" y="210222"/>
                  </a:lnTo>
                  <a:lnTo>
                    <a:pt x="379817" y="209696"/>
                  </a:lnTo>
                  <a:lnTo>
                    <a:pt x="391997" y="194931"/>
                  </a:lnTo>
                  <a:lnTo>
                    <a:pt x="391687" y="191212"/>
                  </a:lnTo>
                  <a:lnTo>
                    <a:pt x="375709" y="178978"/>
                  </a:lnTo>
                  <a:lnTo>
                    <a:pt x="358998" y="179148"/>
                  </a:lnTo>
                </a:path>
                <a:path w="392430" h="368300">
                  <a:moveTo>
                    <a:pt x="15292" y="179189"/>
                  </a:moveTo>
                  <a:lnTo>
                    <a:pt x="0" y="196205"/>
                  </a:lnTo>
                  <a:lnTo>
                    <a:pt x="923" y="200424"/>
                  </a:lnTo>
                  <a:lnTo>
                    <a:pt x="15020" y="210366"/>
                  </a:lnTo>
                  <a:lnTo>
                    <a:pt x="25581" y="210570"/>
                  </a:lnTo>
                </a:path>
                <a:path w="392430" h="368300">
                  <a:moveTo>
                    <a:pt x="365632" y="261930"/>
                  </a:moveTo>
                  <a:lnTo>
                    <a:pt x="353351" y="300027"/>
                  </a:lnTo>
                  <a:lnTo>
                    <a:pt x="324522" y="326407"/>
                  </a:lnTo>
                  <a:lnTo>
                    <a:pt x="272696" y="334883"/>
                  </a:lnTo>
                  <a:lnTo>
                    <a:pt x="254211" y="335215"/>
                  </a:lnTo>
                </a:path>
                <a:path w="392430" h="368300">
                  <a:moveTo>
                    <a:pt x="98124" y="334600"/>
                  </a:moveTo>
                  <a:lnTo>
                    <a:pt x="56378" y="319802"/>
                  </a:lnTo>
                  <a:lnTo>
                    <a:pt x="30111" y="284277"/>
                  </a:lnTo>
                  <a:lnTo>
                    <a:pt x="26422" y="264542"/>
                  </a:lnTo>
                  <a:lnTo>
                    <a:pt x="25947" y="253406"/>
                  </a:lnTo>
                </a:path>
                <a:path w="392430" h="368300">
                  <a:moveTo>
                    <a:pt x="25785" y="217791"/>
                  </a:moveTo>
                  <a:lnTo>
                    <a:pt x="25581" y="210570"/>
                  </a:lnTo>
                </a:path>
                <a:path w="392430" h="368300">
                  <a:moveTo>
                    <a:pt x="365901" y="210964"/>
                  </a:moveTo>
                  <a:lnTo>
                    <a:pt x="365632" y="261930"/>
                  </a:lnTo>
                </a:path>
                <a:path w="392430" h="368300">
                  <a:moveTo>
                    <a:pt x="286752" y="42754"/>
                  </a:moveTo>
                  <a:lnTo>
                    <a:pt x="287154" y="40236"/>
                  </a:lnTo>
                  <a:lnTo>
                    <a:pt x="287281" y="37705"/>
                  </a:lnTo>
                  <a:lnTo>
                    <a:pt x="287133" y="35160"/>
                  </a:lnTo>
                  <a:lnTo>
                    <a:pt x="264408" y="4121"/>
                  </a:lnTo>
                  <a:lnTo>
                    <a:pt x="259517" y="2765"/>
                  </a:lnTo>
                  <a:lnTo>
                    <a:pt x="257028" y="2217"/>
                  </a:lnTo>
                  <a:lnTo>
                    <a:pt x="254509" y="1942"/>
                  </a:lnTo>
                  <a:lnTo>
                    <a:pt x="251961" y="1941"/>
                  </a:lnTo>
                  <a:lnTo>
                    <a:pt x="249412" y="1939"/>
                  </a:lnTo>
                  <a:lnTo>
                    <a:pt x="246893" y="2211"/>
                  </a:lnTo>
                  <a:lnTo>
                    <a:pt x="244403" y="2756"/>
                  </a:lnTo>
                  <a:lnTo>
                    <a:pt x="241913" y="3301"/>
                  </a:lnTo>
                  <a:lnTo>
                    <a:pt x="239511" y="4107"/>
                  </a:lnTo>
                  <a:lnTo>
                    <a:pt x="237195" y="5173"/>
                  </a:lnTo>
                  <a:lnTo>
                    <a:pt x="234880" y="6239"/>
                  </a:lnTo>
                  <a:lnTo>
                    <a:pt x="232707" y="7541"/>
                  </a:lnTo>
                  <a:lnTo>
                    <a:pt x="230674" y="9079"/>
                  </a:lnTo>
                  <a:lnTo>
                    <a:pt x="228641" y="10617"/>
                  </a:lnTo>
                  <a:lnTo>
                    <a:pt x="226797" y="12354"/>
                  </a:lnTo>
                  <a:lnTo>
                    <a:pt x="225141" y="14292"/>
                  </a:lnTo>
                  <a:lnTo>
                    <a:pt x="223485" y="16230"/>
                  </a:lnTo>
                  <a:lnTo>
                    <a:pt x="218013" y="27623"/>
                  </a:lnTo>
                  <a:lnTo>
                    <a:pt x="217321" y="30076"/>
                  </a:lnTo>
                  <a:lnTo>
                    <a:pt x="216899" y="32575"/>
                  </a:lnTo>
                  <a:lnTo>
                    <a:pt x="216749" y="35120"/>
                  </a:lnTo>
                  <a:lnTo>
                    <a:pt x="216599" y="37664"/>
                  </a:lnTo>
                  <a:lnTo>
                    <a:pt x="216723" y="40195"/>
                  </a:lnTo>
                  <a:lnTo>
                    <a:pt x="217122" y="42713"/>
                  </a:lnTo>
                </a:path>
                <a:path w="392430" h="368300">
                  <a:moveTo>
                    <a:pt x="287008" y="42794"/>
                  </a:moveTo>
                  <a:lnTo>
                    <a:pt x="216788" y="42766"/>
                  </a:lnTo>
                </a:path>
                <a:path w="392430" h="368300">
                  <a:moveTo>
                    <a:pt x="342863" y="179020"/>
                  </a:moveTo>
                  <a:lnTo>
                    <a:pt x="342824" y="0"/>
                  </a:lnTo>
                </a:path>
                <a:path w="392430" h="368300">
                  <a:moveTo>
                    <a:pt x="81361" y="367905"/>
                  </a:moveTo>
                  <a:lnTo>
                    <a:pt x="89856" y="333612"/>
                  </a:lnTo>
                </a:path>
                <a:path w="392430" h="368300">
                  <a:moveTo>
                    <a:pt x="301978" y="333709"/>
                  </a:moveTo>
                  <a:lnTo>
                    <a:pt x="310679" y="367458"/>
                  </a:lnTo>
                </a:path>
                <a:path w="392430" h="368300">
                  <a:moveTo>
                    <a:pt x="358998" y="179148"/>
                  </a:moveTo>
                  <a:lnTo>
                    <a:pt x="15292" y="179189"/>
                  </a:lnTo>
                </a:path>
                <a:path w="392430" h="368300">
                  <a:moveTo>
                    <a:pt x="25947" y="253406"/>
                  </a:moveTo>
                  <a:lnTo>
                    <a:pt x="25785" y="217791"/>
                  </a:lnTo>
                </a:path>
                <a:path w="392430" h="368300">
                  <a:moveTo>
                    <a:pt x="254211" y="335215"/>
                  </a:moveTo>
                  <a:lnTo>
                    <a:pt x="98124" y="334600"/>
                  </a:lnTo>
                </a:path>
              </a:pathLst>
            </a:custGeom>
            <a:ln w="18441">
              <a:solidFill>
                <a:srgbClr val="D4D4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38482" y="5672321"/>
              <a:ext cx="110325" cy="691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9556501" y="6559563"/>
            <a:ext cx="244856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spc="50" dirty="0">
                <a:solidFill>
                  <a:srgbClr val="D4D4D0"/>
                </a:solidFill>
                <a:latin typeface="Tahoma"/>
                <a:cs typeface="Tahoma"/>
              </a:rPr>
              <a:t>Innings</a:t>
            </a:r>
            <a:r>
              <a:rPr sz="2750" spc="-200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750" spc="90" dirty="0">
                <a:solidFill>
                  <a:srgbClr val="D4D4D0"/>
                </a:solidFill>
                <a:latin typeface="Tahoma"/>
                <a:cs typeface="Tahoma"/>
              </a:rPr>
              <a:t>&amp;</a:t>
            </a:r>
            <a:r>
              <a:rPr sz="2750" spc="-195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750" spc="50" dirty="0">
                <a:solidFill>
                  <a:srgbClr val="D4D4D0"/>
                </a:solidFill>
                <a:latin typeface="Tahoma"/>
                <a:cs typeface="Tahoma"/>
              </a:rPr>
              <a:t>Runs</a:t>
            </a:r>
            <a:endParaRPr sz="275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992237" y="7606753"/>
            <a:ext cx="8010525" cy="850900"/>
            <a:chOff x="992237" y="7606753"/>
            <a:chExt cx="8010525" cy="850900"/>
          </a:xfrm>
        </p:grpSpPr>
        <p:sp>
          <p:nvSpPr>
            <p:cNvPr id="18" name="object 18"/>
            <p:cNvSpPr/>
            <p:nvPr/>
          </p:nvSpPr>
          <p:spPr>
            <a:xfrm>
              <a:off x="992237" y="7606753"/>
              <a:ext cx="8010525" cy="850900"/>
            </a:xfrm>
            <a:custGeom>
              <a:avLst/>
              <a:gdLst/>
              <a:ahLst/>
              <a:cxnLst/>
              <a:rect l="l" t="t" r="r" b="b"/>
              <a:pathLst>
                <a:path w="8010525" h="850900">
                  <a:moveTo>
                    <a:pt x="7584662" y="850582"/>
                  </a:moveTo>
                  <a:lnTo>
                    <a:pt x="425291" y="850582"/>
                  </a:lnTo>
                  <a:lnTo>
                    <a:pt x="378950" y="848087"/>
                  </a:lnTo>
                  <a:lnTo>
                    <a:pt x="334054" y="840773"/>
                  </a:lnTo>
                  <a:lnTo>
                    <a:pt x="290864" y="828901"/>
                  </a:lnTo>
                  <a:lnTo>
                    <a:pt x="249638" y="812729"/>
                  </a:lnTo>
                  <a:lnTo>
                    <a:pt x="210636" y="792518"/>
                  </a:lnTo>
                  <a:lnTo>
                    <a:pt x="174117" y="768527"/>
                  </a:lnTo>
                  <a:lnTo>
                    <a:pt x="140341" y="741014"/>
                  </a:lnTo>
                  <a:lnTo>
                    <a:pt x="109567" y="710240"/>
                  </a:lnTo>
                  <a:lnTo>
                    <a:pt x="82055" y="676464"/>
                  </a:lnTo>
                  <a:lnTo>
                    <a:pt x="58063" y="639945"/>
                  </a:lnTo>
                  <a:lnTo>
                    <a:pt x="37852" y="600943"/>
                  </a:lnTo>
                  <a:lnTo>
                    <a:pt x="21681" y="559717"/>
                  </a:lnTo>
                  <a:lnTo>
                    <a:pt x="9809" y="516527"/>
                  </a:lnTo>
                  <a:lnTo>
                    <a:pt x="2495" y="471632"/>
                  </a:lnTo>
                  <a:lnTo>
                    <a:pt x="0" y="425291"/>
                  </a:lnTo>
                  <a:lnTo>
                    <a:pt x="2495" y="378950"/>
                  </a:lnTo>
                  <a:lnTo>
                    <a:pt x="9809" y="334054"/>
                  </a:lnTo>
                  <a:lnTo>
                    <a:pt x="21681" y="290864"/>
                  </a:lnTo>
                  <a:lnTo>
                    <a:pt x="37852" y="249638"/>
                  </a:lnTo>
                  <a:lnTo>
                    <a:pt x="58063" y="210636"/>
                  </a:lnTo>
                  <a:lnTo>
                    <a:pt x="82055" y="174117"/>
                  </a:lnTo>
                  <a:lnTo>
                    <a:pt x="109567" y="140341"/>
                  </a:lnTo>
                  <a:lnTo>
                    <a:pt x="140341" y="109567"/>
                  </a:lnTo>
                  <a:lnTo>
                    <a:pt x="174117" y="82055"/>
                  </a:lnTo>
                  <a:lnTo>
                    <a:pt x="210636" y="58063"/>
                  </a:lnTo>
                  <a:lnTo>
                    <a:pt x="249638" y="37852"/>
                  </a:lnTo>
                  <a:lnTo>
                    <a:pt x="290864" y="21681"/>
                  </a:lnTo>
                  <a:lnTo>
                    <a:pt x="334054" y="9809"/>
                  </a:lnTo>
                  <a:lnTo>
                    <a:pt x="378950" y="2495"/>
                  </a:lnTo>
                  <a:lnTo>
                    <a:pt x="425291" y="0"/>
                  </a:lnTo>
                  <a:lnTo>
                    <a:pt x="7584662" y="0"/>
                  </a:lnTo>
                  <a:lnTo>
                    <a:pt x="7631003" y="2495"/>
                  </a:lnTo>
                  <a:lnTo>
                    <a:pt x="7675898" y="9809"/>
                  </a:lnTo>
                  <a:lnTo>
                    <a:pt x="7719089" y="21681"/>
                  </a:lnTo>
                  <a:lnTo>
                    <a:pt x="7760315" y="37852"/>
                  </a:lnTo>
                  <a:lnTo>
                    <a:pt x="7799317" y="58063"/>
                  </a:lnTo>
                  <a:lnTo>
                    <a:pt x="7835836" y="82055"/>
                  </a:lnTo>
                  <a:lnTo>
                    <a:pt x="7869612" y="109567"/>
                  </a:lnTo>
                  <a:lnTo>
                    <a:pt x="7900386" y="140341"/>
                  </a:lnTo>
                  <a:lnTo>
                    <a:pt x="7927899" y="174117"/>
                  </a:lnTo>
                  <a:lnTo>
                    <a:pt x="7951890" y="210636"/>
                  </a:lnTo>
                  <a:lnTo>
                    <a:pt x="7972102" y="249638"/>
                  </a:lnTo>
                  <a:lnTo>
                    <a:pt x="7988273" y="290864"/>
                  </a:lnTo>
                  <a:lnTo>
                    <a:pt x="8000145" y="334054"/>
                  </a:lnTo>
                  <a:lnTo>
                    <a:pt x="8007459" y="378950"/>
                  </a:lnTo>
                  <a:lnTo>
                    <a:pt x="8009954" y="425291"/>
                  </a:lnTo>
                  <a:lnTo>
                    <a:pt x="8007459" y="471632"/>
                  </a:lnTo>
                  <a:lnTo>
                    <a:pt x="8000145" y="516527"/>
                  </a:lnTo>
                  <a:lnTo>
                    <a:pt x="7988273" y="559717"/>
                  </a:lnTo>
                  <a:lnTo>
                    <a:pt x="7972102" y="600943"/>
                  </a:lnTo>
                  <a:lnTo>
                    <a:pt x="7951890" y="639945"/>
                  </a:lnTo>
                  <a:lnTo>
                    <a:pt x="7927899" y="676464"/>
                  </a:lnTo>
                  <a:lnTo>
                    <a:pt x="7900386" y="710240"/>
                  </a:lnTo>
                  <a:lnTo>
                    <a:pt x="7869612" y="741014"/>
                  </a:lnTo>
                  <a:lnTo>
                    <a:pt x="7835836" y="768527"/>
                  </a:lnTo>
                  <a:lnTo>
                    <a:pt x="7799317" y="792518"/>
                  </a:lnTo>
                  <a:lnTo>
                    <a:pt x="7760315" y="812729"/>
                  </a:lnTo>
                  <a:lnTo>
                    <a:pt x="7719089" y="828901"/>
                  </a:lnTo>
                  <a:lnTo>
                    <a:pt x="7675898" y="840773"/>
                  </a:lnTo>
                  <a:lnTo>
                    <a:pt x="7631003" y="848087"/>
                  </a:lnTo>
                  <a:lnTo>
                    <a:pt x="7584662" y="850582"/>
                  </a:lnTo>
                  <a:close/>
                </a:path>
              </a:pathLst>
            </a:custGeom>
            <a:solidFill>
              <a:srgbClr val="484A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02559" y="7834035"/>
              <a:ext cx="393065" cy="399415"/>
            </a:xfrm>
            <a:custGeom>
              <a:avLst/>
              <a:gdLst/>
              <a:ahLst/>
              <a:cxnLst/>
              <a:rect l="l" t="t" r="r" b="b"/>
              <a:pathLst>
                <a:path w="393064" h="399415">
                  <a:moveTo>
                    <a:pt x="90790" y="318018"/>
                  </a:moveTo>
                  <a:lnTo>
                    <a:pt x="90570" y="300735"/>
                  </a:lnTo>
                  <a:lnTo>
                    <a:pt x="90390" y="277362"/>
                  </a:lnTo>
                  <a:lnTo>
                    <a:pt x="90214" y="256043"/>
                  </a:lnTo>
                  <a:lnTo>
                    <a:pt x="90006" y="244922"/>
                  </a:lnTo>
                  <a:lnTo>
                    <a:pt x="89134" y="239719"/>
                  </a:lnTo>
                  <a:lnTo>
                    <a:pt x="87773" y="235022"/>
                  </a:lnTo>
                  <a:lnTo>
                    <a:pt x="86383" y="231882"/>
                  </a:lnTo>
                </a:path>
                <a:path w="393064" h="399415">
                  <a:moveTo>
                    <a:pt x="5035" y="230644"/>
                  </a:moveTo>
                  <a:lnTo>
                    <a:pt x="2611" y="234904"/>
                  </a:lnTo>
                  <a:lnTo>
                    <a:pt x="1069" y="239320"/>
                  </a:lnTo>
                  <a:lnTo>
                    <a:pt x="146" y="244614"/>
                  </a:lnTo>
                  <a:lnTo>
                    <a:pt x="0" y="266832"/>
                  </a:lnTo>
                  <a:lnTo>
                    <a:pt x="51" y="309964"/>
                  </a:lnTo>
                  <a:lnTo>
                    <a:pt x="359" y="353725"/>
                  </a:lnTo>
                  <a:lnTo>
                    <a:pt x="984" y="377827"/>
                  </a:lnTo>
                  <a:lnTo>
                    <a:pt x="1817" y="380737"/>
                  </a:lnTo>
                  <a:lnTo>
                    <a:pt x="2634" y="383134"/>
                  </a:lnTo>
                  <a:lnTo>
                    <a:pt x="3437" y="385017"/>
                  </a:lnTo>
                </a:path>
                <a:path w="393064" h="399415">
                  <a:moveTo>
                    <a:pt x="5285" y="387787"/>
                  </a:moveTo>
                  <a:lnTo>
                    <a:pt x="32942" y="399119"/>
                  </a:lnTo>
                  <a:lnTo>
                    <a:pt x="48303" y="399203"/>
                  </a:lnTo>
                </a:path>
                <a:path w="393064" h="399415">
                  <a:moveTo>
                    <a:pt x="353097" y="399136"/>
                  </a:moveTo>
                  <a:lnTo>
                    <a:pt x="361422" y="398687"/>
                  </a:lnTo>
                  <a:lnTo>
                    <a:pt x="368067" y="398055"/>
                  </a:lnTo>
                  <a:lnTo>
                    <a:pt x="373033" y="397240"/>
                  </a:lnTo>
                </a:path>
                <a:path w="393064" h="399415">
                  <a:moveTo>
                    <a:pt x="388042" y="385781"/>
                  </a:moveTo>
                  <a:lnTo>
                    <a:pt x="389749" y="382713"/>
                  </a:lnTo>
                  <a:lnTo>
                    <a:pt x="390949" y="379627"/>
                  </a:lnTo>
                  <a:lnTo>
                    <a:pt x="392389" y="372306"/>
                  </a:lnTo>
                  <a:lnTo>
                    <a:pt x="392566" y="342910"/>
                  </a:lnTo>
                </a:path>
                <a:path w="393064" h="399415">
                  <a:moveTo>
                    <a:pt x="392514" y="28319"/>
                  </a:moveTo>
                  <a:lnTo>
                    <a:pt x="391962" y="22749"/>
                  </a:lnTo>
                  <a:lnTo>
                    <a:pt x="390605" y="16923"/>
                  </a:lnTo>
                  <a:lnTo>
                    <a:pt x="388582" y="12372"/>
                  </a:lnTo>
                  <a:lnTo>
                    <a:pt x="386599" y="9522"/>
                  </a:lnTo>
                </a:path>
                <a:path w="393064" h="399415">
                  <a:moveTo>
                    <a:pt x="374747" y="1494"/>
                  </a:moveTo>
                  <a:lnTo>
                    <a:pt x="368974" y="728"/>
                  </a:lnTo>
                  <a:lnTo>
                    <a:pt x="357668" y="224"/>
                  </a:lnTo>
                  <a:lnTo>
                    <a:pt x="336844" y="0"/>
                  </a:lnTo>
                  <a:lnTo>
                    <a:pt x="302515" y="71"/>
                  </a:lnTo>
                  <a:lnTo>
                    <a:pt x="298213" y="490"/>
                  </a:lnTo>
                  <a:lnTo>
                    <a:pt x="294251" y="1560"/>
                  </a:lnTo>
                  <a:lnTo>
                    <a:pt x="290084" y="3689"/>
                  </a:lnTo>
                  <a:lnTo>
                    <a:pt x="286249" y="6656"/>
                  </a:lnTo>
                </a:path>
                <a:path w="393064" h="399415">
                  <a:moveTo>
                    <a:pt x="86383" y="231882"/>
                  </a:moveTo>
                  <a:lnTo>
                    <a:pt x="49134" y="219963"/>
                  </a:lnTo>
                  <a:lnTo>
                    <a:pt x="34642" y="220768"/>
                  </a:lnTo>
                  <a:lnTo>
                    <a:pt x="19929" y="221031"/>
                  </a:lnTo>
                </a:path>
                <a:path w="393064" h="399415">
                  <a:moveTo>
                    <a:pt x="19925" y="221018"/>
                  </a:moveTo>
                  <a:lnTo>
                    <a:pt x="14652" y="222530"/>
                  </a:lnTo>
                  <a:lnTo>
                    <a:pt x="10089" y="225239"/>
                  </a:lnTo>
                  <a:lnTo>
                    <a:pt x="6236" y="229145"/>
                  </a:lnTo>
                </a:path>
                <a:path w="393064" h="399415">
                  <a:moveTo>
                    <a:pt x="6242" y="229150"/>
                  </a:moveTo>
                  <a:lnTo>
                    <a:pt x="5035" y="230644"/>
                  </a:lnTo>
                </a:path>
                <a:path w="393064" h="399415">
                  <a:moveTo>
                    <a:pt x="3437" y="385017"/>
                  </a:moveTo>
                  <a:lnTo>
                    <a:pt x="4192" y="386304"/>
                  </a:lnTo>
                  <a:lnTo>
                    <a:pt x="5285" y="387787"/>
                  </a:lnTo>
                </a:path>
                <a:path w="393064" h="399415">
                  <a:moveTo>
                    <a:pt x="373044" y="397267"/>
                  </a:moveTo>
                  <a:lnTo>
                    <a:pt x="379149" y="394883"/>
                  </a:lnTo>
                  <a:lnTo>
                    <a:pt x="384152" y="391057"/>
                  </a:lnTo>
                  <a:lnTo>
                    <a:pt x="388053" y="385789"/>
                  </a:lnTo>
                </a:path>
                <a:path w="393064" h="399415">
                  <a:moveTo>
                    <a:pt x="386599" y="9522"/>
                  </a:moveTo>
                  <a:lnTo>
                    <a:pt x="385452" y="8176"/>
                  </a:lnTo>
                  <a:lnTo>
                    <a:pt x="383847" y="6506"/>
                  </a:lnTo>
                  <a:lnTo>
                    <a:pt x="381997" y="5153"/>
                  </a:lnTo>
                  <a:lnTo>
                    <a:pt x="380823" y="4289"/>
                  </a:lnTo>
                  <a:lnTo>
                    <a:pt x="379584" y="3533"/>
                  </a:lnTo>
                  <a:lnTo>
                    <a:pt x="378279" y="2883"/>
                  </a:lnTo>
                  <a:lnTo>
                    <a:pt x="376955" y="2286"/>
                  </a:lnTo>
                  <a:lnTo>
                    <a:pt x="375777" y="1823"/>
                  </a:lnTo>
                  <a:lnTo>
                    <a:pt x="374747" y="1494"/>
                  </a:lnTo>
                </a:path>
                <a:path w="393064" h="399415">
                  <a:moveTo>
                    <a:pt x="286249" y="6656"/>
                  </a:moveTo>
                  <a:lnTo>
                    <a:pt x="279745" y="18783"/>
                  </a:lnTo>
                  <a:lnTo>
                    <a:pt x="278999" y="361951"/>
                  </a:lnTo>
                </a:path>
                <a:path w="393064" h="399415">
                  <a:moveTo>
                    <a:pt x="136494" y="363717"/>
                  </a:moveTo>
                  <a:lnTo>
                    <a:pt x="137839" y="129925"/>
                  </a:lnTo>
                </a:path>
                <a:path w="393064" h="399415">
                  <a:moveTo>
                    <a:pt x="137837" y="129924"/>
                  </a:moveTo>
                  <a:lnTo>
                    <a:pt x="138947" y="126995"/>
                  </a:lnTo>
                  <a:lnTo>
                    <a:pt x="140441" y="124276"/>
                  </a:lnTo>
                  <a:lnTo>
                    <a:pt x="142318" y="121768"/>
                  </a:lnTo>
                </a:path>
                <a:path w="393064" h="399415">
                  <a:moveTo>
                    <a:pt x="142318" y="121768"/>
                  </a:moveTo>
                  <a:lnTo>
                    <a:pt x="143714" y="120090"/>
                  </a:lnTo>
                  <a:lnTo>
                    <a:pt x="145199" y="118667"/>
                  </a:lnTo>
                </a:path>
                <a:path w="393064" h="399415">
                  <a:moveTo>
                    <a:pt x="90826" y="364760"/>
                  </a:moveTo>
                  <a:lnTo>
                    <a:pt x="90790" y="318018"/>
                  </a:lnTo>
                </a:path>
                <a:path w="393064" h="399415">
                  <a:moveTo>
                    <a:pt x="145197" y="118664"/>
                  </a:moveTo>
                  <a:lnTo>
                    <a:pt x="149460" y="115152"/>
                  </a:lnTo>
                  <a:lnTo>
                    <a:pt x="154294" y="112829"/>
                  </a:lnTo>
                  <a:lnTo>
                    <a:pt x="159699" y="111695"/>
                  </a:lnTo>
                </a:path>
                <a:path w="393064" h="399415">
                  <a:moveTo>
                    <a:pt x="159699" y="111698"/>
                  </a:moveTo>
                  <a:lnTo>
                    <a:pt x="213759" y="111868"/>
                  </a:lnTo>
                </a:path>
                <a:path w="393064" h="399415">
                  <a:moveTo>
                    <a:pt x="230241" y="123277"/>
                  </a:moveTo>
                  <a:lnTo>
                    <a:pt x="225970" y="117707"/>
                  </a:lnTo>
                  <a:lnTo>
                    <a:pt x="220470" y="113923"/>
                  </a:lnTo>
                  <a:lnTo>
                    <a:pt x="213742" y="111925"/>
                  </a:lnTo>
                </a:path>
                <a:path w="393064" h="399415">
                  <a:moveTo>
                    <a:pt x="230235" y="123282"/>
                  </a:moveTo>
                  <a:lnTo>
                    <a:pt x="231249" y="125002"/>
                  </a:lnTo>
                  <a:lnTo>
                    <a:pt x="234926" y="361951"/>
                  </a:lnTo>
                </a:path>
                <a:path w="393064" h="399415">
                  <a:moveTo>
                    <a:pt x="48303" y="399203"/>
                  </a:moveTo>
                  <a:lnTo>
                    <a:pt x="353097" y="399136"/>
                  </a:lnTo>
                </a:path>
                <a:path w="393064" h="399415">
                  <a:moveTo>
                    <a:pt x="392566" y="342910"/>
                  </a:moveTo>
                  <a:lnTo>
                    <a:pt x="392514" y="28319"/>
                  </a:lnTo>
                </a:path>
              </a:pathLst>
            </a:custGeom>
            <a:ln w="18026">
              <a:solidFill>
                <a:srgbClr val="D4D4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263054" y="8703581"/>
            <a:ext cx="352044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spc="50" dirty="0">
                <a:solidFill>
                  <a:srgbClr val="D4D4D0"/>
                </a:solidFill>
                <a:latin typeface="Tahoma"/>
                <a:cs typeface="Tahoma"/>
              </a:rPr>
              <a:t>Average</a:t>
            </a:r>
            <a:r>
              <a:rPr sz="2750" spc="-200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750" spc="90" dirty="0">
                <a:solidFill>
                  <a:srgbClr val="D4D4D0"/>
                </a:solidFill>
                <a:latin typeface="Tahoma"/>
                <a:cs typeface="Tahoma"/>
              </a:rPr>
              <a:t>&amp;</a:t>
            </a:r>
            <a:r>
              <a:rPr sz="2750" spc="-200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750" spc="80" dirty="0">
                <a:solidFill>
                  <a:srgbClr val="D4D4D0"/>
                </a:solidFill>
                <a:latin typeface="Tahoma"/>
                <a:cs typeface="Tahoma"/>
              </a:rPr>
              <a:t>Strike</a:t>
            </a:r>
            <a:r>
              <a:rPr sz="2750" spc="-200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750" spc="50" dirty="0">
                <a:solidFill>
                  <a:srgbClr val="D4D4D0"/>
                </a:solidFill>
                <a:latin typeface="Tahoma"/>
                <a:cs typeface="Tahoma"/>
              </a:rPr>
              <a:t>Rate</a:t>
            </a:r>
            <a:endParaRPr sz="275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285685" y="7606753"/>
            <a:ext cx="8010525" cy="850900"/>
            <a:chOff x="9285685" y="7606753"/>
            <a:chExt cx="8010525" cy="850900"/>
          </a:xfrm>
        </p:grpSpPr>
        <p:sp>
          <p:nvSpPr>
            <p:cNvPr id="22" name="object 22"/>
            <p:cNvSpPr/>
            <p:nvPr/>
          </p:nvSpPr>
          <p:spPr>
            <a:xfrm>
              <a:off x="9285685" y="7606753"/>
              <a:ext cx="8010525" cy="850900"/>
            </a:xfrm>
            <a:custGeom>
              <a:avLst/>
              <a:gdLst/>
              <a:ahLst/>
              <a:cxnLst/>
              <a:rect l="l" t="t" r="r" b="b"/>
              <a:pathLst>
                <a:path w="8010525" h="850900">
                  <a:moveTo>
                    <a:pt x="7584758" y="850582"/>
                  </a:moveTo>
                  <a:lnTo>
                    <a:pt x="425291" y="850582"/>
                  </a:lnTo>
                  <a:lnTo>
                    <a:pt x="378950" y="848087"/>
                  </a:lnTo>
                  <a:lnTo>
                    <a:pt x="334055" y="840773"/>
                  </a:lnTo>
                  <a:lnTo>
                    <a:pt x="290864" y="828901"/>
                  </a:lnTo>
                  <a:lnTo>
                    <a:pt x="249638" y="812729"/>
                  </a:lnTo>
                  <a:lnTo>
                    <a:pt x="210636" y="792518"/>
                  </a:lnTo>
                  <a:lnTo>
                    <a:pt x="174117" y="768527"/>
                  </a:lnTo>
                  <a:lnTo>
                    <a:pt x="140341" y="741014"/>
                  </a:lnTo>
                  <a:lnTo>
                    <a:pt x="109567" y="710240"/>
                  </a:lnTo>
                  <a:lnTo>
                    <a:pt x="82055" y="676464"/>
                  </a:lnTo>
                  <a:lnTo>
                    <a:pt x="58063" y="639945"/>
                  </a:lnTo>
                  <a:lnTo>
                    <a:pt x="37852" y="600943"/>
                  </a:lnTo>
                  <a:lnTo>
                    <a:pt x="21681" y="559717"/>
                  </a:lnTo>
                  <a:lnTo>
                    <a:pt x="9809" y="516527"/>
                  </a:lnTo>
                  <a:lnTo>
                    <a:pt x="2495" y="471632"/>
                  </a:lnTo>
                  <a:lnTo>
                    <a:pt x="0" y="425291"/>
                  </a:lnTo>
                  <a:lnTo>
                    <a:pt x="2495" y="378950"/>
                  </a:lnTo>
                  <a:lnTo>
                    <a:pt x="9809" y="334054"/>
                  </a:lnTo>
                  <a:lnTo>
                    <a:pt x="21681" y="290864"/>
                  </a:lnTo>
                  <a:lnTo>
                    <a:pt x="37852" y="249638"/>
                  </a:lnTo>
                  <a:lnTo>
                    <a:pt x="58063" y="210636"/>
                  </a:lnTo>
                  <a:lnTo>
                    <a:pt x="82055" y="174117"/>
                  </a:lnTo>
                  <a:lnTo>
                    <a:pt x="109567" y="140341"/>
                  </a:lnTo>
                  <a:lnTo>
                    <a:pt x="140341" y="109567"/>
                  </a:lnTo>
                  <a:lnTo>
                    <a:pt x="174117" y="82055"/>
                  </a:lnTo>
                  <a:lnTo>
                    <a:pt x="210636" y="58063"/>
                  </a:lnTo>
                  <a:lnTo>
                    <a:pt x="249638" y="37852"/>
                  </a:lnTo>
                  <a:lnTo>
                    <a:pt x="290864" y="21681"/>
                  </a:lnTo>
                  <a:lnTo>
                    <a:pt x="334055" y="9809"/>
                  </a:lnTo>
                  <a:lnTo>
                    <a:pt x="378950" y="2495"/>
                  </a:lnTo>
                  <a:lnTo>
                    <a:pt x="425291" y="0"/>
                  </a:lnTo>
                  <a:lnTo>
                    <a:pt x="7584758" y="0"/>
                  </a:lnTo>
                  <a:lnTo>
                    <a:pt x="7631099" y="2495"/>
                  </a:lnTo>
                  <a:lnTo>
                    <a:pt x="7675994" y="9809"/>
                  </a:lnTo>
                  <a:lnTo>
                    <a:pt x="7719185" y="21681"/>
                  </a:lnTo>
                  <a:lnTo>
                    <a:pt x="7760410" y="37852"/>
                  </a:lnTo>
                  <a:lnTo>
                    <a:pt x="7799412" y="58063"/>
                  </a:lnTo>
                  <a:lnTo>
                    <a:pt x="7835931" y="82055"/>
                  </a:lnTo>
                  <a:lnTo>
                    <a:pt x="7869707" y="109567"/>
                  </a:lnTo>
                  <a:lnTo>
                    <a:pt x="7900481" y="140341"/>
                  </a:lnTo>
                  <a:lnTo>
                    <a:pt x="7927993" y="174117"/>
                  </a:lnTo>
                  <a:lnTo>
                    <a:pt x="7951984" y="210636"/>
                  </a:lnTo>
                  <a:lnTo>
                    <a:pt x="7972195" y="249638"/>
                  </a:lnTo>
                  <a:lnTo>
                    <a:pt x="7988367" y="290864"/>
                  </a:lnTo>
                  <a:lnTo>
                    <a:pt x="8000239" y="334054"/>
                  </a:lnTo>
                  <a:lnTo>
                    <a:pt x="8007552" y="378950"/>
                  </a:lnTo>
                  <a:lnTo>
                    <a:pt x="8010048" y="425291"/>
                  </a:lnTo>
                  <a:lnTo>
                    <a:pt x="8007552" y="471632"/>
                  </a:lnTo>
                  <a:lnTo>
                    <a:pt x="8000239" y="516527"/>
                  </a:lnTo>
                  <a:lnTo>
                    <a:pt x="7988367" y="559717"/>
                  </a:lnTo>
                  <a:lnTo>
                    <a:pt x="7972195" y="600943"/>
                  </a:lnTo>
                  <a:lnTo>
                    <a:pt x="7951984" y="639945"/>
                  </a:lnTo>
                  <a:lnTo>
                    <a:pt x="7927993" y="676464"/>
                  </a:lnTo>
                  <a:lnTo>
                    <a:pt x="7900481" y="710240"/>
                  </a:lnTo>
                  <a:lnTo>
                    <a:pt x="7869707" y="741014"/>
                  </a:lnTo>
                  <a:lnTo>
                    <a:pt x="7835931" y="768527"/>
                  </a:lnTo>
                  <a:lnTo>
                    <a:pt x="7799412" y="792518"/>
                  </a:lnTo>
                  <a:lnTo>
                    <a:pt x="7760410" y="812729"/>
                  </a:lnTo>
                  <a:lnTo>
                    <a:pt x="7719185" y="828901"/>
                  </a:lnTo>
                  <a:lnTo>
                    <a:pt x="7675994" y="840773"/>
                  </a:lnTo>
                  <a:lnTo>
                    <a:pt x="7631099" y="848087"/>
                  </a:lnTo>
                  <a:lnTo>
                    <a:pt x="7584758" y="850582"/>
                  </a:lnTo>
                  <a:close/>
                </a:path>
              </a:pathLst>
            </a:custGeom>
            <a:solidFill>
              <a:srgbClr val="484A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3132323" y="7819281"/>
              <a:ext cx="320675" cy="428625"/>
            </a:xfrm>
            <a:custGeom>
              <a:avLst/>
              <a:gdLst/>
              <a:ahLst/>
              <a:cxnLst/>
              <a:rect l="l" t="t" r="r" b="b"/>
              <a:pathLst>
                <a:path w="320675" h="428625">
                  <a:moveTo>
                    <a:pt x="51417" y="428625"/>
                  </a:moveTo>
                  <a:lnTo>
                    <a:pt x="27564" y="398230"/>
                  </a:lnTo>
                  <a:lnTo>
                    <a:pt x="10191" y="356278"/>
                  </a:lnTo>
                  <a:lnTo>
                    <a:pt x="5552" y="318658"/>
                  </a:lnTo>
                  <a:lnTo>
                    <a:pt x="5738" y="311053"/>
                  </a:lnTo>
                  <a:lnTo>
                    <a:pt x="14595" y="266518"/>
                  </a:lnTo>
                  <a:lnTo>
                    <a:pt x="36012" y="226440"/>
                  </a:lnTo>
                  <a:lnTo>
                    <a:pt x="68113" y="194331"/>
                  </a:lnTo>
                  <a:lnTo>
                    <a:pt x="108182" y="172909"/>
                  </a:lnTo>
                  <a:lnTo>
                    <a:pt x="152707" y="164051"/>
                  </a:lnTo>
                  <a:lnTo>
                    <a:pt x="160310" y="163865"/>
                  </a:lnTo>
                  <a:lnTo>
                    <a:pt x="167913" y="164051"/>
                  </a:lnTo>
                  <a:lnTo>
                    <a:pt x="212438" y="172909"/>
                  </a:lnTo>
                  <a:lnTo>
                    <a:pt x="252508" y="194331"/>
                  </a:lnTo>
                  <a:lnTo>
                    <a:pt x="284608" y="226440"/>
                  </a:lnTo>
                  <a:lnTo>
                    <a:pt x="306026" y="266518"/>
                  </a:lnTo>
                  <a:lnTo>
                    <a:pt x="314883" y="311053"/>
                  </a:lnTo>
                  <a:lnTo>
                    <a:pt x="315068" y="318658"/>
                  </a:lnTo>
                  <a:lnTo>
                    <a:pt x="314883" y="326262"/>
                  </a:lnTo>
                  <a:lnTo>
                    <a:pt x="306026" y="370798"/>
                  </a:lnTo>
                  <a:lnTo>
                    <a:pt x="284608" y="410876"/>
                  </a:lnTo>
                  <a:lnTo>
                    <a:pt x="269204" y="428625"/>
                  </a:lnTo>
                </a:path>
                <a:path w="320675" h="428625">
                  <a:moveTo>
                    <a:pt x="320245" y="0"/>
                  </a:moveTo>
                  <a:lnTo>
                    <a:pt x="200370" y="169513"/>
                  </a:lnTo>
                </a:path>
                <a:path w="320675" h="428625">
                  <a:moveTo>
                    <a:pt x="120204" y="169384"/>
                  </a:moveTo>
                  <a:lnTo>
                    <a:pt x="0" y="0"/>
                  </a:lnTo>
                </a:path>
                <a:path w="320675" h="428625">
                  <a:moveTo>
                    <a:pt x="184061" y="285426"/>
                  </a:moveTo>
                  <a:lnTo>
                    <a:pt x="160771" y="222625"/>
                  </a:lnTo>
                </a:path>
                <a:path w="320675" h="428625">
                  <a:moveTo>
                    <a:pt x="184061" y="285426"/>
                  </a:moveTo>
                  <a:lnTo>
                    <a:pt x="186337" y="287078"/>
                  </a:lnTo>
                  <a:lnTo>
                    <a:pt x="252834" y="288703"/>
                  </a:lnTo>
                  <a:lnTo>
                    <a:pt x="198019" y="334476"/>
                  </a:lnTo>
                </a:path>
                <a:path w="320675" h="428625">
                  <a:moveTo>
                    <a:pt x="160304" y="99198"/>
                  </a:moveTo>
                  <a:lnTo>
                    <a:pt x="90129" y="0"/>
                  </a:lnTo>
                </a:path>
                <a:path w="320675" h="428625">
                  <a:moveTo>
                    <a:pt x="218796" y="402192"/>
                  </a:moveTo>
                  <a:lnTo>
                    <a:pt x="198019" y="334476"/>
                  </a:lnTo>
                </a:path>
                <a:path w="320675" h="428625">
                  <a:moveTo>
                    <a:pt x="218796" y="402192"/>
                  </a:moveTo>
                  <a:lnTo>
                    <a:pt x="160651" y="362501"/>
                  </a:lnTo>
                  <a:lnTo>
                    <a:pt x="102334" y="401855"/>
                  </a:lnTo>
                </a:path>
                <a:path w="320675" h="428625">
                  <a:moveTo>
                    <a:pt x="121452" y="336193"/>
                  </a:moveTo>
                  <a:lnTo>
                    <a:pt x="69671" y="288905"/>
                  </a:lnTo>
                </a:path>
                <a:path w="320675" h="428625">
                  <a:moveTo>
                    <a:pt x="121452" y="336193"/>
                  </a:moveTo>
                  <a:lnTo>
                    <a:pt x="102334" y="401855"/>
                  </a:lnTo>
                </a:path>
                <a:path w="320675" h="428625">
                  <a:moveTo>
                    <a:pt x="230448" y="0"/>
                  </a:moveTo>
                  <a:lnTo>
                    <a:pt x="160304" y="99198"/>
                  </a:lnTo>
                </a:path>
                <a:path w="320675" h="428625">
                  <a:moveTo>
                    <a:pt x="136719" y="288121"/>
                  </a:moveTo>
                  <a:lnTo>
                    <a:pt x="69671" y="288905"/>
                  </a:lnTo>
                </a:path>
                <a:path w="320675" h="428625">
                  <a:moveTo>
                    <a:pt x="160771" y="222625"/>
                  </a:moveTo>
                  <a:lnTo>
                    <a:pt x="136719" y="288121"/>
                  </a:lnTo>
                </a:path>
              </a:pathLst>
            </a:custGeom>
            <a:ln w="22848">
              <a:solidFill>
                <a:srgbClr val="D4D4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556501" y="8703581"/>
            <a:ext cx="273304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spc="70" dirty="0">
                <a:solidFill>
                  <a:srgbClr val="D4D4D0"/>
                </a:solidFill>
                <a:latin typeface="Tahoma"/>
                <a:cs typeface="Tahoma"/>
              </a:rPr>
              <a:t>4s,</a:t>
            </a:r>
            <a:r>
              <a:rPr sz="2750" spc="-210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D4D4D0"/>
                </a:solidFill>
                <a:latin typeface="Tahoma"/>
                <a:cs typeface="Tahoma"/>
              </a:rPr>
              <a:t>6s,</a:t>
            </a:r>
            <a:r>
              <a:rPr sz="2750" spc="-204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750" spc="90" dirty="0">
                <a:solidFill>
                  <a:srgbClr val="D4D4D0"/>
                </a:solidFill>
                <a:latin typeface="Tahoma"/>
                <a:cs typeface="Tahoma"/>
              </a:rPr>
              <a:t>50s,</a:t>
            </a:r>
            <a:r>
              <a:rPr sz="2750" spc="-204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750" spc="114" dirty="0">
                <a:solidFill>
                  <a:srgbClr val="D4D4D0"/>
                </a:solidFill>
                <a:latin typeface="Tahoma"/>
                <a:cs typeface="Tahoma"/>
              </a:rPr>
              <a:t>100s</a:t>
            </a:r>
            <a:endParaRPr sz="27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457200" y="876300"/>
            <a:ext cx="16016605" cy="1854097"/>
          </a:xfrm>
          <a:prstGeom prst="rect">
            <a:avLst/>
          </a:prstGeom>
        </p:spPr>
        <p:txBody>
          <a:bodyPr vert="horz" wrap="square" lIns="0" tIns="1860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65"/>
              </a:spcBef>
            </a:pPr>
            <a:r>
              <a:rPr spc="135" dirty="0"/>
              <a:t>Dashboard</a:t>
            </a:r>
            <a:r>
              <a:rPr spc="-415" dirty="0"/>
              <a:t> </a:t>
            </a:r>
            <a:r>
              <a:rPr spc="50" dirty="0"/>
              <a:t>Design:</a:t>
            </a:r>
            <a:r>
              <a:rPr spc="-409" dirty="0"/>
              <a:t> </a:t>
            </a:r>
            <a:r>
              <a:rPr spc="210" dirty="0"/>
              <a:t>Power</a:t>
            </a:r>
            <a:r>
              <a:rPr spc="-409" dirty="0"/>
              <a:t> </a:t>
            </a:r>
            <a:r>
              <a:rPr spc="290" dirty="0"/>
              <a:t>BI</a:t>
            </a:r>
            <a:r>
              <a:rPr spc="-409" dirty="0"/>
              <a:t> </a:t>
            </a:r>
            <a:r>
              <a:rPr spc="204" dirty="0"/>
              <a:t>Visuals</a:t>
            </a:r>
            <a:r>
              <a:rPr spc="-409" dirty="0"/>
              <a:t> </a:t>
            </a:r>
            <a:r>
              <a:rPr spc="135" dirty="0"/>
              <a:t>in</a:t>
            </a:r>
            <a:r>
              <a:rPr lang="en-US" spc="135" dirty="0"/>
              <a:t> Focus</a:t>
            </a:r>
            <a:endParaRPr spc="135" dirty="0"/>
          </a:p>
          <a:p>
            <a:pPr marL="38100" marR="30480">
              <a:lnSpc>
                <a:spcPct val="104000"/>
              </a:lnSpc>
              <a:spcBef>
                <a:spcPts val="1100"/>
              </a:spcBef>
            </a:pPr>
            <a:r>
              <a:rPr lang="en-US" sz="2150" spc="-5" dirty="0">
                <a:solidFill>
                  <a:srgbClr val="D4D4D0"/>
                </a:solidFill>
                <a:latin typeface="Roboto"/>
                <a:cs typeface="Roboto"/>
              </a:rPr>
              <a:t>The Power Bi a da</a:t>
            </a:r>
            <a:r>
              <a:rPr sz="2150" spc="-5" dirty="0">
                <a:solidFill>
                  <a:srgbClr val="D4D4D0"/>
                </a:solidFill>
                <a:latin typeface="Roboto"/>
                <a:cs typeface="Roboto"/>
              </a:rPr>
              <a:t>s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h</a:t>
            </a:r>
            <a:r>
              <a:rPr sz="2150" spc="-5" dirty="0">
                <a:solidFill>
                  <a:srgbClr val="D4D4D0"/>
                </a:solidFill>
                <a:latin typeface="Roboto"/>
                <a:cs typeface="Roboto"/>
              </a:rPr>
              <a:t>boa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r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d</a:t>
            </a:r>
            <a:r>
              <a:rPr sz="2150" spc="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translates</a:t>
            </a:r>
            <a:r>
              <a:rPr sz="2150" spc="-9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complex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cricket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statistics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into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actionable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insights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using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minimalist,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clean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design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focused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on </a:t>
            </a:r>
            <a:r>
              <a:rPr sz="2150" spc="-90" dirty="0">
                <a:solidFill>
                  <a:srgbClr val="D4D4D0"/>
                </a:solidFill>
                <a:latin typeface="Roboto"/>
                <a:cs typeface="Roboto"/>
              </a:rPr>
              <a:t>data-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driven</a:t>
            </a:r>
            <a:r>
              <a:rPr sz="2150" spc="-5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storytelling.</a:t>
            </a:r>
            <a:endParaRPr sz="2150" dirty="0">
              <a:latin typeface="Roboto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9537" y="4661448"/>
            <a:ext cx="4763135" cy="1645920"/>
          </a:xfrm>
          <a:prstGeom prst="rect">
            <a:avLst/>
          </a:prstGeom>
        </p:spPr>
        <p:txBody>
          <a:bodyPr vert="horz" wrap="square" lIns="0" tIns="2463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2750" spc="65" dirty="0">
                <a:solidFill>
                  <a:srgbClr val="D4D4D0"/>
                </a:solidFill>
                <a:latin typeface="Tahoma"/>
                <a:cs typeface="Tahoma"/>
              </a:rPr>
              <a:t>Boundary</a:t>
            </a:r>
            <a:r>
              <a:rPr sz="2750" spc="-190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750" spc="55" dirty="0">
                <a:solidFill>
                  <a:srgbClr val="D4D4D0"/>
                </a:solidFill>
                <a:latin typeface="Tahoma"/>
                <a:cs typeface="Tahoma"/>
              </a:rPr>
              <a:t>Distribution</a:t>
            </a:r>
            <a:endParaRPr sz="2750"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560"/>
              </a:spcBef>
            </a:pP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Donut</a:t>
            </a:r>
            <a:r>
              <a:rPr sz="2150" spc="-6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chart</a:t>
            </a:r>
            <a:r>
              <a:rPr sz="21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detailing</a:t>
            </a:r>
            <a:r>
              <a:rPr sz="2150" spc="-6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the</a:t>
            </a:r>
            <a:r>
              <a:rPr sz="21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split</a:t>
            </a:r>
            <a:r>
              <a:rPr sz="21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between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Fours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and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Sixes.</a:t>
            </a:r>
            <a:endParaRPr sz="21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32166" y="4661448"/>
            <a:ext cx="4665980" cy="1645920"/>
          </a:xfrm>
          <a:prstGeom prst="rect">
            <a:avLst/>
          </a:prstGeom>
        </p:spPr>
        <p:txBody>
          <a:bodyPr vert="horz" wrap="square" lIns="0" tIns="2463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2750" spc="70" dirty="0">
                <a:solidFill>
                  <a:srgbClr val="D4D4D0"/>
                </a:solidFill>
                <a:latin typeface="Tahoma"/>
                <a:cs typeface="Tahoma"/>
              </a:rPr>
              <a:t>Runs</a:t>
            </a:r>
            <a:r>
              <a:rPr sz="2750" spc="-215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750" spc="55" dirty="0">
                <a:solidFill>
                  <a:srgbClr val="D4D4D0"/>
                </a:solidFill>
                <a:latin typeface="Tahoma"/>
                <a:cs typeface="Tahoma"/>
              </a:rPr>
              <a:t>by</a:t>
            </a:r>
            <a:r>
              <a:rPr sz="2750" spc="-210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750" spc="50" dirty="0">
                <a:solidFill>
                  <a:srgbClr val="D4D4D0"/>
                </a:solidFill>
                <a:latin typeface="Tahoma"/>
                <a:cs typeface="Tahoma"/>
              </a:rPr>
              <a:t>Year</a:t>
            </a:r>
            <a:endParaRPr sz="2750"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560"/>
              </a:spcBef>
            </a:pP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Bar</a:t>
            </a:r>
            <a:r>
              <a:rPr sz="21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chart</a:t>
            </a:r>
            <a:r>
              <a:rPr sz="2150" spc="-5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visualizing</a:t>
            </a:r>
            <a:r>
              <a:rPr sz="2150" spc="-5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total</a:t>
            </a:r>
            <a:r>
              <a:rPr sz="2150" spc="-5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runs</a:t>
            </a:r>
            <a:r>
              <a:rPr sz="2150" spc="-5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scored annually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to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show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peaks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and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dips.</a:t>
            </a:r>
            <a:endParaRPr sz="21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084793" y="4661448"/>
            <a:ext cx="4289425" cy="2093595"/>
          </a:xfrm>
          <a:prstGeom prst="rect">
            <a:avLst/>
          </a:prstGeom>
        </p:spPr>
        <p:txBody>
          <a:bodyPr vert="horz" wrap="square" lIns="0" tIns="2463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2750" spc="60" dirty="0">
                <a:solidFill>
                  <a:srgbClr val="D4D4D0"/>
                </a:solidFill>
                <a:latin typeface="Tahoma"/>
                <a:cs typeface="Tahoma"/>
              </a:rPr>
              <a:t>Conversion</a:t>
            </a:r>
            <a:r>
              <a:rPr sz="2750" spc="-185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750" spc="70" dirty="0">
                <a:solidFill>
                  <a:srgbClr val="D4D4D0"/>
                </a:solidFill>
                <a:latin typeface="Tahoma"/>
                <a:cs typeface="Tahoma"/>
              </a:rPr>
              <a:t>Rates</a:t>
            </a:r>
            <a:endParaRPr sz="2750"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560"/>
              </a:spcBef>
            </a:pP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Line</a:t>
            </a:r>
            <a:r>
              <a:rPr sz="2150" spc="-5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chart</a:t>
            </a:r>
            <a:r>
              <a:rPr sz="2150" spc="-5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tracking</a:t>
            </a:r>
            <a:r>
              <a:rPr sz="2150" spc="-5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the</a:t>
            </a:r>
            <a:r>
              <a:rPr sz="2150" spc="-5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relationship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between</a:t>
            </a:r>
            <a:r>
              <a:rPr sz="2150" spc="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75" dirty="0">
                <a:solidFill>
                  <a:srgbClr val="D4D4D0"/>
                </a:solidFill>
                <a:latin typeface="Roboto"/>
                <a:cs typeface="Roboto"/>
              </a:rPr>
              <a:t>Half-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Centuries</a:t>
            </a:r>
            <a:r>
              <a:rPr sz="2150" spc="4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(50s)</a:t>
            </a:r>
            <a:r>
              <a:rPr sz="2150" spc="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and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Centuries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(100s).</a:t>
            </a:r>
            <a:endParaRPr sz="21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4738" y="7499213"/>
            <a:ext cx="13086715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Key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Performance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Indicators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(KPIs)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provide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immediate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context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on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total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runs,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innings,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and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career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strike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rate.</a:t>
            </a:r>
            <a:endParaRPr sz="215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92237" y="7225455"/>
            <a:ext cx="38100" cy="1091565"/>
          </a:xfrm>
          <a:custGeom>
            <a:avLst/>
            <a:gdLst/>
            <a:ahLst/>
            <a:cxnLst/>
            <a:rect l="l" t="t" r="r" b="b"/>
            <a:pathLst>
              <a:path w="38100" h="1091565">
                <a:moveTo>
                  <a:pt x="38099" y="1091505"/>
                </a:moveTo>
                <a:lnTo>
                  <a:pt x="0" y="1091505"/>
                </a:lnTo>
                <a:lnTo>
                  <a:pt x="0" y="0"/>
                </a:lnTo>
                <a:lnTo>
                  <a:pt x="38099" y="0"/>
                </a:lnTo>
                <a:lnTo>
                  <a:pt x="38099" y="1091505"/>
                </a:lnTo>
                <a:close/>
              </a:path>
            </a:pathLst>
          </a:custGeom>
          <a:solidFill>
            <a:srgbClr val="FFBC8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4820" y="306760"/>
            <a:ext cx="9375775" cy="14255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620"/>
              </a:lnSpc>
            </a:pPr>
            <a:r>
              <a:rPr sz="4500" spc="165" dirty="0"/>
              <a:t>Key</a:t>
            </a:r>
            <a:r>
              <a:rPr sz="4500" spc="-315" dirty="0"/>
              <a:t> </a:t>
            </a:r>
            <a:r>
              <a:rPr sz="4500" spc="135" dirty="0"/>
              <a:t>Performance</a:t>
            </a:r>
            <a:r>
              <a:rPr sz="4500" spc="-315" dirty="0"/>
              <a:t> </a:t>
            </a:r>
            <a:r>
              <a:rPr sz="4500" spc="75" dirty="0"/>
              <a:t>Highlights:</a:t>
            </a:r>
            <a:r>
              <a:rPr sz="4500" spc="-315" dirty="0"/>
              <a:t> </a:t>
            </a:r>
            <a:r>
              <a:rPr sz="4500" spc="90" dirty="0"/>
              <a:t>Career </a:t>
            </a:r>
            <a:r>
              <a:rPr sz="4500" spc="110" dirty="0"/>
              <a:t>Totals</a:t>
            </a:r>
            <a:endParaRPr sz="4500" dirty="0"/>
          </a:p>
        </p:txBody>
      </p:sp>
      <p:sp>
        <p:nvSpPr>
          <p:cNvPr id="3" name="object 3"/>
          <p:cNvSpPr txBox="1"/>
          <p:nvPr/>
        </p:nvSpPr>
        <p:spPr>
          <a:xfrm>
            <a:off x="1216024" y="1392150"/>
            <a:ext cx="3129280" cy="1839595"/>
          </a:xfrm>
          <a:prstGeom prst="rect">
            <a:avLst/>
          </a:prstGeom>
        </p:spPr>
        <p:txBody>
          <a:bodyPr vert="horz" wrap="square" lIns="0" tIns="513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40"/>
              </a:spcBef>
            </a:pPr>
            <a:r>
              <a:rPr sz="5900" spc="240" dirty="0">
                <a:solidFill>
                  <a:srgbClr val="D4D4D0"/>
                </a:solidFill>
                <a:latin typeface="Tahoma"/>
                <a:cs typeface="Tahoma"/>
              </a:rPr>
              <a:t>27,673</a:t>
            </a:r>
            <a:endParaRPr sz="5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Total</a:t>
            </a:r>
            <a:r>
              <a:rPr sz="1750" spc="-5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D4D4D0"/>
                </a:solidFill>
                <a:latin typeface="Roboto"/>
                <a:cs typeface="Roboto"/>
              </a:rPr>
              <a:t>International</a:t>
            </a:r>
            <a:r>
              <a:rPr sz="1750" spc="-5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D4D4D0"/>
                </a:solidFill>
                <a:latin typeface="Roboto"/>
                <a:cs typeface="Roboto"/>
              </a:rPr>
              <a:t>Runs</a:t>
            </a:r>
            <a:r>
              <a:rPr sz="1750" spc="-5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Scored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72262" y="1392150"/>
            <a:ext cx="2301240" cy="1839595"/>
          </a:xfrm>
          <a:prstGeom prst="rect">
            <a:avLst/>
          </a:prstGeom>
        </p:spPr>
        <p:txBody>
          <a:bodyPr vert="horz" wrap="square" lIns="0" tIns="513080" rIns="0" bIns="0" rtlCol="0">
            <a:spAutoFit/>
          </a:bodyPr>
          <a:lstStyle/>
          <a:p>
            <a:pPr marL="135890">
              <a:lnSpc>
                <a:spcPct val="100000"/>
              </a:lnSpc>
              <a:spcBef>
                <a:spcPts val="4040"/>
              </a:spcBef>
            </a:pPr>
            <a:r>
              <a:rPr sz="5900" spc="225" dirty="0">
                <a:solidFill>
                  <a:srgbClr val="D4D4D0"/>
                </a:solidFill>
                <a:latin typeface="Tahoma"/>
                <a:cs typeface="Tahoma"/>
              </a:rPr>
              <a:t>49.19</a:t>
            </a:r>
            <a:endParaRPr sz="5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60"/>
              </a:spcBef>
            </a:pP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Career</a:t>
            </a:r>
            <a:r>
              <a:rPr sz="1750" spc="-5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D4D4D0"/>
                </a:solidFill>
                <a:latin typeface="Roboto"/>
                <a:cs typeface="Roboto"/>
              </a:rPr>
              <a:t>Batting</a:t>
            </a:r>
            <a:r>
              <a:rPr sz="1750" spc="-4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Average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51678" y="1392150"/>
            <a:ext cx="2026920" cy="1839595"/>
          </a:xfrm>
          <a:prstGeom prst="rect">
            <a:avLst/>
          </a:prstGeom>
        </p:spPr>
        <p:txBody>
          <a:bodyPr vert="horz" wrap="square" lIns="0" tIns="5130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040"/>
              </a:spcBef>
            </a:pPr>
            <a:r>
              <a:rPr sz="5900" spc="290" dirty="0">
                <a:solidFill>
                  <a:srgbClr val="D4D4D0"/>
                </a:solidFill>
                <a:latin typeface="Tahoma"/>
                <a:cs typeface="Tahoma"/>
              </a:rPr>
              <a:t>619</a:t>
            </a:r>
            <a:endParaRPr sz="59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160"/>
              </a:spcBef>
            </a:pP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Total</a:t>
            </a:r>
            <a:r>
              <a:rPr sz="1750" spc="-7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D4D4D0"/>
                </a:solidFill>
                <a:latin typeface="Roboto"/>
                <a:cs typeface="Roboto"/>
              </a:rPr>
              <a:t>Innings</a:t>
            </a:r>
            <a:r>
              <a:rPr sz="1750" spc="-7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Played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80331" y="1392150"/>
            <a:ext cx="2053589" cy="1839595"/>
          </a:xfrm>
          <a:prstGeom prst="rect">
            <a:avLst/>
          </a:prstGeom>
        </p:spPr>
        <p:txBody>
          <a:bodyPr vert="horz" wrap="square" lIns="0" tIns="513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40"/>
              </a:spcBef>
            </a:pPr>
            <a:r>
              <a:rPr sz="5900" spc="225" dirty="0">
                <a:solidFill>
                  <a:srgbClr val="D4D4D0"/>
                </a:solidFill>
                <a:latin typeface="Tahoma"/>
                <a:cs typeface="Tahoma"/>
              </a:rPr>
              <a:t>91.43</a:t>
            </a:r>
            <a:endParaRPr sz="5900">
              <a:latin typeface="Tahoma"/>
              <a:cs typeface="Tahoma"/>
            </a:endParaRPr>
          </a:p>
          <a:p>
            <a:pPr marL="139700">
              <a:lnSpc>
                <a:spcPct val="100000"/>
              </a:lnSpc>
              <a:spcBef>
                <a:spcPts val="1160"/>
              </a:spcBef>
            </a:pP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Career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Strike</a:t>
            </a:r>
            <a:r>
              <a:rPr sz="1750" spc="-5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D4D4D0"/>
                </a:solidFill>
                <a:latin typeface="Roboto"/>
                <a:cs typeface="Roboto"/>
              </a:rPr>
              <a:t>Rate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03076" y="3706040"/>
            <a:ext cx="16682085" cy="38100"/>
          </a:xfrm>
          <a:custGeom>
            <a:avLst/>
            <a:gdLst/>
            <a:ahLst/>
            <a:cxnLst/>
            <a:rect l="l" t="t" r="r" b="b"/>
            <a:pathLst>
              <a:path w="16682085" h="38100">
                <a:moveTo>
                  <a:pt x="16681845" y="38099"/>
                </a:moveTo>
                <a:lnTo>
                  <a:pt x="0" y="38099"/>
                </a:lnTo>
                <a:lnTo>
                  <a:pt x="0" y="0"/>
                </a:lnTo>
                <a:lnTo>
                  <a:pt x="16681845" y="0"/>
                </a:lnTo>
                <a:lnTo>
                  <a:pt x="16681845" y="38099"/>
                </a:lnTo>
                <a:close/>
              </a:path>
            </a:pathLst>
          </a:custGeom>
          <a:solidFill>
            <a:srgbClr val="D4D4D0">
              <a:alpha val="50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90376" y="4046885"/>
            <a:ext cx="6421755" cy="5683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550" spc="105" dirty="0">
                <a:solidFill>
                  <a:srgbClr val="F2F2F1"/>
                </a:solidFill>
                <a:latin typeface="Tahoma"/>
                <a:cs typeface="Tahoma"/>
              </a:rPr>
              <a:t>Boundary</a:t>
            </a:r>
            <a:r>
              <a:rPr sz="3550" spc="-250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3550" spc="100" dirty="0">
                <a:solidFill>
                  <a:srgbClr val="F2F2F1"/>
                </a:solidFill>
                <a:latin typeface="Tahoma"/>
                <a:cs typeface="Tahoma"/>
              </a:rPr>
              <a:t>Distribution</a:t>
            </a:r>
            <a:r>
              <a:rPr sz="3550" spc="-250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3550" spc="125" dirty="0">
                <a:solidFill>
                  <a:srgbClr val="F2F2F1"/>
                </a:solidFill>
                <a:latin typeface="Tahoma"/>
                <a:cs typeface="Tahoma"/>
              </a:rPr>
              <a:t>Analysis</a:t>
            </a:r>
            <a:endParaRPr sz="355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49539" y="6465788"/>
            <a:ext cx="210439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95" dirty="0">
                <a:solidFill>
                  <a:srgbClr val="D4D4D0"/>
                </a:solidFill>
                <a:latin typeface="Tahoma"/>
                <a:cs typeface="Tahoma"/>
              </a:rPr>
              <a:t>89.86%</a:t>
            </a:r>
            <a:endParaRPr sz="45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0755" y="5063280"/>
            <a:ext cx="3442097" cy="344209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561728" y="8562620"/>
            <a:ext cx="4680585" cy="990600"/>
          </a:xfrm>
          <a:prstGeom prst="rect">
            <a:avLst/>
          </a:prstGeom>
        </p:spPr>
        <p:txBody>
          <a:bodyPr vert="horz" wrap="square" lIns="0" tIns="2127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75"/>
              </a:spcBef>
            </a:pPr>
            <a:r>
              <a:rPr sz="2250" spc="70" dirty="0">
                <a:solidFill>
                  <a:srgbClr val="D4D4D0"/>
                </a:solidFill>
                <a:latin typeface="Tahoma"/>
                <a:cs typeface="Tahoma"/>
              </a:rPr>
              <a:t>Fours</a:t>
            </a:r>
            <a:r>
              <a:rPr sz="2250" spc="-175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250" spc="-20" dirty="0">
                <a:solidFill>
                  <a:srgbClr val="D4D4D0"/>
                </a:solidFill>
                <a:latin typeface="Tahoma"/>
                <a:cs typeface="Tahoma"/>
              </a:rPr>
              <a:t>(4s)</a:t>
            </a:r>
            <a:endParaRPr sz="22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225"/>
              </a:spcBef>
            </a:pP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Percentage</a:t>
            </a:r>
            <a:r>
              <a:rPr sz="1750" spc="-4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of</a:t>
            </a:r>
            <a:r>
              <a:rPr sz="175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D4D4D0"/>
                </a:solidFill>
                <a:latin typeface="Roboto"/>
                <a:cs typeface="Roboto"/>
              </a:rPr>
              <a:t>boundaries</a:t>
            </a:r>
            <a:r>
              <a:rPr sz="175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achieved</a:t>
            </a:r>
            <a:r>
              <a:rPr sz="175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D4D4D0"/>
                </a:solidFill>
                <a:latin typeface="Roboto"/>
                <a:cs typeface="Roboto"/>
              </a:rPr>
              <a:t>through</a:t>
            </a:r>
            <a:r>
              <a:rPr sz="175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D4D4D0"/>
                </a:solidFill>
                <a:latin typeface="Roboto"/>
                <a:cs typeface="Roboto"/>
              </a:rPr>
              <a:t>4s.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33782" y="6465788"/>
            <a:ext cx="210439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95" dirty="0">
                <a:solidFill>
                  <a:srgbClr val="D4D4D0"/>
                </a:solidFill>
                <a:latin typeface="Tahoma"/>
                <a:cs typeface="Tahoma"/>
              </a:rPr>
              <a:t>10.14%</a:t>
            </a:r>
            <a:endParaRPr sz="45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64999" y="5063280"/>
            <a:ext cx="3442097" cy="344209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1045973" y="8562620"/>
            <a:ext cx="4680585" cy="990600"/>
          </a:xfrm>
          <a:prstGeom prst="rect">
            <a:avLst/>
          </a:prstGeom>
        </p:spPr>
        <p:txBody>
          <a:bodyPr vert="horz" wrap="square" lIns="0" tIns="2127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675"/>
              </a:spcBef>
            </a:pPr>
            <a:r>
              <a:rPr sz="2250" spc="80" dirty="0">
                <a:solidFill>
                  <a:srgbClr val="D4D4D0"/>
                </a:solidFill>
                <a:latin typeface="Tahoma"/>
                <a:cs typeface="Tahoma"/>
              </a:rPr>
              <a:t>Sixes</a:t>
            </a:r>
            <a:r>
              <a:rPr sz="2250" spc="-160" dirty="0">
                <a:solidFill>
                  <a:srgbClr val="D4D4D0"/>
                </a:solidFill>
                <a:latin typeface="Tahoma"/>
                <a:cs typeface="Tahoma"/>
              </a:rPr>
              <a:t> </a:t>
            </a:r>
            <a:r>
              <a:rPr sz="2250" spc="-20" dirty="0">
                <a:solidFill>
                  <a:srgbClr val="D4D4D0"/>
                </a:solidFill>
                <a:latin typeface="Tahoma"/>
                <a:cs typeface="Tahoma"/>
              </a:rPr>
              <a:t>(6s)</a:t>
            </a:r>
            <a:endParaRPr sz="22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225"/>
              </a:spcBef>
            </a:pP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Percentage</a:t>
            </a:r>
            <a:r>
              <a:rPr sz="1750" spc="-4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of</a:t>
            </a:r>
            <a:r>
              <a:rPr sz="175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D4D4D0"/>
                </a:solidFill>
                <a:latin typeface="Roboto"/>
                <a:cs typeface="Roboto"/>
              </a:rPr>
              <a:t>boundaries</a:t>
            </a:r>
            <a:r>
              <a:rPr sz="175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achieved</a:t>
            </a:r>
            <a:r>
              <a:rPr sz="175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D4D4D0"/>
                </a:solidFill>
                <a:latin typeface="Roboto"/>
                <a:cs typeface="Roboto"/>
              </a:rPr>
              <a:t>through</a:t>
            </a:r>
            <a:r>
              <a:rPr sz="175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D4D4D0"/>
                </a:solidFill>
                <a:latin typeface="Roboto"/>
                <a:cs typeface="Roboto"/>
              </a:rPr>
              <a:t>6s.</a:t>
            </a:r>
            <a:endParaRPr sz="17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0217" rIns="0" bIns="0" rtlCol="0">
            <a:spAutoFit/>
          </a:bodyPr>
          <a:lstStyle/>
          <a:p>
            <a:pPr marL="175895">
              <a:lnSpc>
                <a:spcPct val="100000"/>
              </a:lnSpc>
              <a:spcBef>
                <a:spcPts val="135"/>
              </a:spcBef>
            </a:pPr>
            <a:r>
              <a:rPr sz="3650" spc="80" dirty="0"/>
              <a:t>Trend</a:t>
            </a:r>
            <a:r>
              <a:rPr sz="3650" spc="-254" dirty="0"/>
              <a:t> </a:t>
            </a:r>
            <a:r>
              <a:rPr sz="3650" spc="110" dirty="0"/>
              <a:t>Analysis:</a:t>
            </a:r>
            <a:r>
              <a:rPr sz="3650" spc="-254" dirty="0"/>
              <a:t> </a:t>
            </a:r>
            <a:r>
              <a:rPr sz="3650" spc="125" dirty="0"/>
              <a:t>Annual</a:t>
            </a:r>
            <a:r>
              <a:rPr sz="3650" spc="-254" dirty="0"/>
              <a:t> </a:t>
            </a:r>
            <a:r>
              <a:rPr sz="3650" spc="114" dirty="0"/>
              <a:t>Runs</a:t>
            </a:r>
            <a:r>
              <a:rPr sz="3650" spc="-254" dirty="0"/>
              <a:t> </a:t>
            </a:r>
            <a:r>
              <a:rPr sz="3650" spc="114" dirty="0"/>
              <a:t>Scored</a:t>
            </a:r>
            <a:endParaRPr sz="3650"/>
          </a:p>
        </p:txBody>
      </p:sp>
      <p:pic>
        <p:nvPicPr>
          <p:cNvPr id="7" name="Picture 6" descr="A graph of numbers and a bar&#10;&#10;Description automatically generated with medium confidence">
            <a:extLst>
              <a:ext uri="{FF2B5EF4-FFF2-40B4-BE49-F238E27FC236}">
                <a16:creationId xmlns:a16="http://schemas.microsoft.com/office/drawing/2014/main" id="{C15C4106-E217-1F12-AB9F-7C03DC10F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551" y="2287688"/>
            <a:ext cx="16334105" cy="65134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9537" y="4334235"/>
            <a:ext cx="15192375" cy="1749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6900"/>
              </a:lnSpc>
            </a:pPr>
            <a:r>
              <a:rPr sz="5550" spc="170" dirty="0">
                <a:solidFill>
                  <a:srgbClr val="F2F2F1"/>
                </a:solidFill>
                <a:latin typeface="Tahoma"/>
                <a:cs typeface="Tahoma"/>
              </a:rPr>
              <a:t>Consistency</a:t>
            </a:r>
            <a:r>
              <a:rPr sz="5550" spc="-409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5550" spc="155" dirty="0">
                <a:solidFill>
                  <a:srgbClr val="F2F2F1"/>
                </a:solidFill>
                <a:latin typeface="Tahoma"/>
                <a:cs typeface="Tahoma"/>
              </a:rPr>
              <a:t>Analysis:</a:t>
            </a:r>
            <a:r>
              <a:rPr sz="5550" spc="-405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5550" spc="140" dirty="0">
                <a:solidFill>
                  <a:srgbClr val="F2F2F1"/>
                </a:solidFill>
                <a:latin typeface="Tahoma"/>
                <a:cs typeface="Tahoma"/>
              </a:rPr>
              <a:t>Conversion</a:t>
            </a:r>
            <a:r>
              <a:rPr sz="5550" spc="-409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5550" spc="145" dirty="0">
                <a:solidFill>
                  <a:srgbClr val="F2F2F1"/>
                </a:solidFill>
                <a:latin typeface="Tahoma"/>
                <a:cs typeface="Tahoma"/>
              </a:rPr>
              <a:t>Rate</a:t>
            </a:r>
            <a:r>
              <a:rPr sz="5550" spc="-405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5550" spc="145" dirty="0">
                <a:solidFill>
                  <a:srgbClr val="F2F2F1"/>
                </a:solidFill>
                <a:latin typeface="Tahoma"/>
                <a:cs typeface="Tahoma"/>
              </a:rPr>
              <a:t>(50s</a:t>
            </a:r>
            <a:r>
              <a:rPr sz="5550" spc="-405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5550" spc="65" dirty="0">
                <a:solidFill>
                  <a:srgbClr val="F2F2F1"/>
                </a:solidFill>
                <a:latin typeface="Tahoma"/>
                <a:cs typeface="Tahoma"/>
              </a:rPr>
              <a:t>vs. </a:t>
            </a:r>
            <a:r>
              <a:rPr sz="5550" spc="165" dirty="0">
                <a:solidFill>
                  <a:srgbClr val="F2F2F1"/>
                </a:solidFill>
                <a:latin typeface="Tahoma"/>
                <a:cs typeface="Tahoma"/>
              </a:rPr>
              <a:t>100s)</a:t>
            </a:r>
            <a:endParaRPr sz="555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992237" y="7797999"/>
            <a:ext cx="16303625" cy="1658620"/>
            <a:chOff x="992237" y="7797999"/>
            <a:chExt cx="16303625" cy="1658620"/>
          </a:xfrm>
        </p:grpSpPr>
        <p:sp>
          <p:nvSpPr>
            <p:cNvPr id="4" name="object 4"/>
            <p:cNvSpPr/>
            <p:nvPr/>
          </p:nvSpPr>
          <p:spPr>
            <a:xfrm>
              <a:off x="992237" y="7797999"/>
              <a:ext cx="16303625" cy="1658620"/>
            </a:xfrm>
            <a:custGeom>
              <a:avLst/>
              <a:gdLst/>
              <a:ahLst/>
              <a:cxnLst/>
              <a:rect l="l" t="t" r="r" b="b"/>
              <a:pathLst>
                <a:path w="16303625" h="1658620">
                  <a:moveTo>
                    <a:pt x="16260984" y="1658397"/>
                  </a:moveTo>
                  <a:lnTo>
                    <a:pt x="42576" y="1658397"/>
                  </a:lnTo>
                  <a:lnTo>
                    <a:pt x="25998" y="1655053"/>
                  </a:lnTo>
                  <a:lnTo>
                    <a:pt x="12465" y="1645931"/>
                  </a:lnTo>
                  <a:lnTo>
                    <a:pt x="3344" y="1632398"/>
                  </a:lnTo>
                  <a:lnTo>
                    <a:pt x="0" y="1615820"/>
                  </a:lnTo>
                  <a:lnTo>
                    <a:pt x="0" y="42576"/>
                  </a:lnTo>
                  <a:lnTo>
                    <a:pt x="3344" y="25998"/>
                  </a:lnTo>
                  <a:lnTo>
                    <a:pt x="12465" y="12465"/>
                  </a:lnTo>
                  <a:lnTo>
                    <a:pt x="25998" y="3344"/>
                  </a:lnTo>
                  <a:lnTo>
                    <a:pt x="42576" y="0"/>
                  </a:lnTo>
                  <a:lnTo>
                    <a:pt x="16260984" y="0"/>
                  </a:lnTo>
                  <a:lnTo>
                    <a:pt x="16277562" y="3344"/>
                  </a:lnTo>
                  <a:lnTo>
                    <a:pt x="16291095" y="12465"/>
                  </a:lnTo>
                  <a:lnTo>
                    <a:pt x="16300216" y="25998"/>
                  </a:lnTo>
                  <a:lnTo>
                    <a:pt x="16303561" y="42576"/>
                  </a:lnTo>
                  <a:lnTo>
                    <a:pt x="16303561" y="1615820"/>
                  </a:lnTo>
                  <a:lnTo>
                    <a:pt x="16300216" y="1632398"/>
                  </a:lnTo>
                  <a:lnTo>
                    <a:pt x="16291095" y="1645931"/>
                  </a:lnTo>
                  <a:lnTo>
                    <a:pt x="16277562" y="1655053"/>
                  </a:lnTo>
                  <a:lnTo>
                    <a:pt x="16260984" y="1658397"/>
                  </a:lnTo>
                  <a:close/>
                </a:path>
              </a:pathLst>
            </a:custGeom>
            <a:solidFill>
              <a:srgbClr val="4D1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5754" y="8228110"/>
              <a:ext cx="354330" cy="28355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979537" y="6412247"/>
            <a:ext cx="15876905" cy="2501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3655">
              <a:lnSpc>
                <a:spcPct val="136600"/>
              </a:lnSpc>
              <a:spcBef>
                <a:spcPts val="90"/>
              </a:spcBef>
            </a:pP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The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ability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to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convert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85" dirty="0">
                <a:solidFill>
                  <a:srgbClr val="D4D4D0"/>
                </a:solidFill>
                <a:latin typeface="Roboto"/>
                <a:cs typeface="Roboto"/>
              </a:rPr>
              <a:t>half-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century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into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century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is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hallmark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of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elite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batsmen.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This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chart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compares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the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rate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of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scoring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50s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and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100s</a:t>
            </a:r>
            <a:r>
              <a:rPr sz="2150" spc="-4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annually,</a:t>
            </a:r>
            <a:r>
              <a:rPr sz="2150" spc="-4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showcasing</a:t>
            </a:r>
            <a:r>
              <a:rPr sz="2150" spc="-4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his</a:t>
            </a:r>
            <a:r>
              <a:rPr sz="2150" spc="-4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consistency.</a:t>
            </a:r>
            <a:endParaRPr sz="21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21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2150">
              <a:latin typeface="Roboto"/>
              <a:cs typeface="Roboto"/>
            </a:endParaRPr>
          </a:p>
          <a:p>
            <a:pPr marL="934085" marR="5080">
              <a:lnSpc>
                <a:spcPct val="136600"/>
              </a:lnSpc>
            </a:pP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While</a:t>
            </a:r>
            <a:r>
              <a:rPr sz="215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the</a:t>
            </a:r>
            <a:r>
              <a:rPr sz="215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number</a:t>
            </a:r>
            <a:r>
              <a:rPr sz="215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of</a:t>
            </a:r>
            <a:r>
              <a:rPr sz="215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fifties</a:t>
            </a:r>
            <a:r>
              <a:rPr sz="215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is</a:t>
            </a:r>
            <a:r>
              <a:rPr sz="215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generally</a:t>
            </a:r>
            <a:r>
              <a:rPr sz="215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higher,</a:t>
            </a:r>
            <a:r>
              <a:rPr sz="215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the</a:t>
            </a:r>
            <a:r>
              <a:rPr sz="215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peak</a:t>
            </a:r>
            <a:r>
              <a:rPr sz="215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years</a:t>
            </a:r>
            <a:r>
              <a:rPr sz="215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show</a:t>
            </a:r>
            <a:r>
              <a:rPr sz="215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sz="215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tighter</a:t>
            </a:r>
            <a:r>
              <a:rPr sz="215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ratio,</a:t>
            </a:r>
            <a:r>
              <a:rPr sz="215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indicating</a:t>
            </a:r>
            <a:r>
              <a:rPr sz="215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b="1" dirty="0">
                <a:solidFill>
                  <a:srgbClr val="FFFFFF"/>
                </a:solidFill>
                <a:latin typeface="Roboto"/>
                <a:cs typeface="Roboto"/>
              </a:rPr>
              <a:t>strong</a:t>
            </a:r>
            <a:r>
              <a:rPr sz="215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b="1" dirty="0">
                <a:solidFill>
                  <a:srgbClr val="FFFFFF"/>
                </a:solidFill>
                <a:latin typeface="Roboto"/>
                <a:cs typeface="Roboto"/>
              </a:rPr>
              <a:t>conversion</a:t>
            </a:r>
            <a:r>
              <a:rPr sz="2150" b="1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b="1" spc="-10" dirty="0">
                <a:solidFill>
                  <a:srgbClr val="FFFFFF"/>
                </a:solidFill>
                <a:latin typeface="Roboto"/>
                <a:cs typeface="Roboto"/>
              </a:rPr>
              <a:t>capability</a:t>
            </a:r>
            <a:r>
              <a:rPr sz="2150" spc="-10" dirty="0">
                <a:solidFill>
                  <a:srgbClr val="FFFFFF"/>
                </a:solidFill>
                <a:latin typeface="Roboto"/>
                <a:cs typeface="Roboto"/>
              </a:rPr>
              <a:t>.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This</a:t>
            </a:r>
            <a:r>
              <a:rPr sz="215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Roboto"/>
                <a:cs typeface="Roboto"/>
              </a:rPr>
              <a:t>highlights</a:t>
            </a:r>
            <a:r>
              <a:rPr sz="215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sz="215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crucial</a:t>
            </a:r>
            <a:r>
              <a:rPr sz="215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phase</a:t>
            </a:r>
            <a:r>
              <a:rPr sz="215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where</a:t>
            </a:r>
            <a:r>
              <a:rPr sz="215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he</a:t>
            </a:r>
            <a:r>
              <a:rPr sz="215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maximized</a:t>
            </a:r>
            <a:r>
              <a:rPr sz="215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big</a:t>
            </a:r>
            <a:r>
              <a:rPr sz="215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scores</a:t>
            </a:r>
            <a:r>
              <a:rPr sz="215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FFFFFF"/>
                </a:solidFill>
                <a:latin typeface="Roboto"/>
                <a:cs typeface="Roboto"/>
              </a:rPr>
              <a:t>under</a:t>
            </a:r>
            <a:r>
              <a:rPr sz="215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Roboto"/>
                <a:cs typeface="Roboto"/>
              </a:rPr>
              <a:t>pressure.</a:t>
            </a:r>
            <a:endParaRPr sz="21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7" y="2001205"/>
            <a:ext cx="12249785" cy="8731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550" spc="200" dirty="0"/>
              <a:t>Key</a:t>
            </a:r>
            <a:r>
              <a:rPr sz="5550" spc="-420" dirty="0"/>
              <a:t> </a:t>
            </a:r>
            <a:r>
              <a:rPr sz="5550" spc="155" dirty="0"/>
              <a:t>Insights</a:t>
            </a:r>
            <a:r>
              <a:rPr sz="5550" spc="-415" dirty="0"/>
              <a:t> </a:t>
            </a:r>
            <a:r>
              <a:rPr sz="5550" spc="185" dirty="0"/>
              <a:t>&amp;</a:t>
            </a:r>
            <a:r>
              <a:rPr sz="5550" spc="-415" dirty="0"/>
              <a:t> </a:t>
            </a:r>
            <a:r>
              <a:rPr sz="5550" spc="140" dirty="0"/>
              <a:t>Strategic</a:t>
            </a:r>
            <a:r>
              <a:rPr sz="5550" spc="-415" dirty="0"/>
              <a:t> </a:t>
            </a:r>
            <a:r>
              <a:rPr sz="5550" spc="135" dirty="0"/>
              <a:t>Observations</a:t>
            </a:r>
            <a:endParaRPr sz="5550"/>
          </a:p>
        </p:txBody>
      </p:sp>
      <p:grpSp>
        <p:nvGrpSpPr>
          <p:cNvPr id="3" name="object 3"/>
          <p:cNvGrpSpPr/>
          <p:nvPr/>
        </p:nvGrpSpPr>
        <p:grpSpPr>
          <a:xfrm>
            <a:off x="954137" y="3475583"/>
            <a:ext cx="5301615" cy="3562985"/>
            <a:chOff x="954137" y="3475583"/>
            <a:chExt cx="5301615" cy="3562985"/>
          </a:xfrm>
        </p:grpSpPr>
        <p:sp>
          <p:nvSpPr>
            <p:cNvPr id="4" name="object 4"/>
            <p:cNvSpPr/>
            <p:nvPr/>
          </p:nvSpPr>
          <p:spPr>
            <a:xfrm>
              <a:off x="992237" y="3494633"/>
              <a:ext cx="5245735" cy="3524885"/>
            </a:xfrm>
            <a:custGeom>
              <a:avLst/>
              <a:gdLst/>
              <a:ahLst/>
              <a:cxnLst/>
              <a:rect l="l" t="t" r="r" b="b"/>
              <a:pathLst>
                <a:path w="5245735" h="3524884">
                  <a:moveTo>
                    <a:pt x="5061965" y="3524440"/>
                  </a:moveTo>
                  <a:lnTo>
                    <a:pt x="183546" y="3524440"/>
                  </a:lnTo>
                  <a:lnTo>
                    <a:pt x="134761" y="3517904"/>
                  </a:lnTo>
                  <a:lnTo>
                    <a:pt x="90917" y="3499463"/>
                  </a:lnTo>
                  <a:lnTo>
                    <a:pt x="53768" y="3470861"/>
                  </a:lnTo>
                  <a:lnTo>
                    <a:pt x="25064" y="3433846"/>
                  </a:lnTo>
                  <a:lnTo>
                    <a:pt x="6558" y="3390163"/>
                  </a:lnTo>
                  <a:lnTo>
                    <a:pt x="0" y="3341560"/>
                  </a:lnTo>
                  <a:lnTo>
                    <a:pt x="0" y="182879"/>
                  </a:lnTo>
                  <a:lnTo>
                    <a:pt x="6558" y="134276"/>
                  </a:lnTo>
                  <a:lnTo>
                    <a:pt x="25064" y="90593"/>
                  </a:lnTo>
                  <a:lnTo>
                    <a:pt x="53768" y="53578"/>
                  </a:lnTo>
                  <a:lnTo>
                    <a:pt x="90917" y="24976"/>
                  </a:lnTo>
                  <a:lnTo>
                    <a:pt x="134761" y="6535"/>
                  </a:lnTo>
                  <a:lnTo>
                    <a:pt x="183546" y="0"/>
                  </a:lnTo>
                  <a:lnTo>
                    <a:pt x="5061965" y="0"/>
                  </a:lnTo>
                  <a:lnTo>
                    <a:pt x="5110750" y="6535"/>
                  </a:lnTo>
                  <a:lnTo>
                    <a:pt x="5154594" y="24976"/>
                  </a:lnTo>
                  <a:lnTo>
                    <a:pt x="5191743" y="53578"/>
                  </a:lnTo>
                  <a:lnTo>
                    <a:pt x="5220447" y="90593"/>
                  </a:lnTo>
                  <a:lnTo>
                    <a:pt x="5238953" y="134276"/>
                  </a:lnTo>
                  <a:lnTo>
                    <a:pt x="5245511" y="182879"/>
                  </a:lnTo>
                  <a:lnTo>
                    <a:pt x="5245511" y="3341560"/>
                  </a:lnTo>
                  <a:lnTo>
                    <a:pt x="5238953" y="3390163"/>
                  </a:lnTo>
                  <a:lnTo>
                    <a:pt x="5220447" y="3433846"/>
                  </a:lnTo>
                  <a:lnTo>
                    <a:pt x="5191743" y="3470861"/>
                  </a:lnTo>
                  <a:lnTo>
                    <a:pt x="5154594" y="3499463"/>
                  </a:lnTo>
                  <a:lnTo>
                    <a:pt x="5110750" y="3517904"/>
                  </a:lnTo>
                  <a:lnTo>
                    <a:pt x="5061965" y="3524440"/>
                  </a:lnTo>
                  <a:close/>
                </a:path>
              </a:pathLst>
            </a:custGeom>
            <a:solidFill>
              <a:srgbClr val="292B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3187" y="3475583"/>
              <a:ext cx="5282565" cy="3562985"/>
            </a:xfrm>
            <a:custGeom>
              <a:avLst/>
              <a:gdLst/>
              <a:ahLst/>
              <a:cxnLst/>
              <a:rect l="l" t="t" r="r" b="b"/>
              <a:pathLst>
                <a:path w="5282565" h="3562984">
                  <a:moveTo>
                    <a:pt x="202596" y="3562498"/>
                  </a:moveTo>
                  <a:lnTo>
                    <a:pt x="156207" y="3557212"/>
                  </a:lnTo>
                  <a:lnTo>
                    <a:pt x="113576" y="3542035"/>
                  </a:lnTo>
                  <a:lnTo>
                    <a:pt x="75958" y="3518213"/>
                  </a:lnTo>
                  <a:lnTo>
                    <a:pt x="44569" y="3486953"/>
                  </a:lnTo>
                  <a:lnTo>
                    <a:pt x="20630" y="3449462"/>
                  </a:lnTo>
                  <a:lnTo>
                    <a:pt x="5365" y="3406945"/>
                  </a:lnTo>
                  <a:lnTo>
                    <a:pt x="0" y="3360610"/>
                  </a:lnTo>
                  <a:lnTo>
                    <a:pt x="0" y="201930"/>
                  </a:lnTo>
                  <a:lnTo>
                    <a:pt x="5354" y="155594"/>
                  </a:lnTo>
                  <a:lnTo>
                    <a:pt x="20604" y="113078"/>
                  </a:lnTo>
                  <a:lnTo>
                    <a:pt x="44529" y="75586"/>
                  </a:lnTo>
                  <a:lnTo>
                    <a:pt x="75911" y="44327"/>
                  </a:lnTo>
                  <a:lnTo>
                    <a:pt x="113529" y="20505"/>
                  </a:lnTo>
                  <a:lnTo>
                    <a:pt x="156164" y="5327"/>
                  </a:lnTo>
                  <a:lnTo>
                    <a:pt x="202596" y="0"/>
                  </a:lnTo>
                  <a:lnTo>
                    <a:pt x="5081015" y="0"/>
                  </a:lnTo>
                  <a:lnTo>
                    <a:pt x="5081015" y="19050"/>
                  </a:lnTo>
                  <a:lnTo>
                    <a:pt x="202596" y="19050"/>
                  </a:lnTo>
                  <a:lnTo>
                    <a:pt x="202596" y="38100"/>
                  </a:lnTo>
                  <a:lnTo>
                    <a:pt x="158827" y="43958"/>
                  </a:lnTo>
                  <a:lnTo>
                    <a:pt x="119521" y="60487"/>
                  </a:lnTo>
                  <a:lnTo>
                    <a:pt x="86236" y="86117"/>
                  </a:lnTo>
                  <a:lnTo>
                    <a:pt x="60533" y="119281"/>
                  </a:lnTo>
                  <a:lnTo>
                    <a:pt x="43968" y="158408"/>
                  </a:lnTo>
                  <a:lnTo>
                    <a:pt x="38100" y="201930"/>
                  </a:lnTo>
                  <a:lnTo>
                    <a:pt x="38100" y="3360610"/>
                  </a:lnTo>
                  <a:lnTo>
                    <a:pt x="43968" y="3404131"/>
                  </a:lnTo>
                  <a:lnTo>
                    <a:pt x="60533" y="3443258"/>
                  </a:lnTo>
                  <a:lnTo>
                    <a:pt x="86236" y="3476422"/>
                  </a:lnTo>
                  <a:lnTo>
                    <a:pt x="119521" y="3502052"/>
                  </a:lnTo>
                  <a:lnTo>
                    <a:pt x="158827" y="3518581"/>
                  </a:lnTo>
                  <a:lnTo>
                    <a:pt x="202596" y="3524440"/>
                  </a:lnTo>
                  <a:lnTo>
                    <a:pt x="5197867" y="3524440"/>
                  </a:lnTo>
                  <a:lnTo>
                    <a:pt x="5170082" y="3542035"/>
                  </a:lnTo>
                  <a:lnTo>
                    <a:pt x="5165995" y="3543490"/>
                  </a:lnTo>
                  <a:lnTo>
                    <a:pt x="202596" y="3543490"/>
                  </a:lnTo>
                  <a:lnTo>
                    <a:pt x="202596" y="3562498"/>
                  </a:lnTo>
                  <a:close/>
                </a:path>
                <a:path w="5282565" h="3562984">
                  <a:moveTo>
                    <a:pt x="5197867" y="3524440"/>
                  </a:moveTo>
                  <a:lnTo>
                    <a:pt x="5081015" y="3524440"/>
                  </a:lnTo>
                  <a:lnTo>
                    <a:pt x="5124751" y="3518581"/>
                  </a:lnTo>
                  <a:lnTo>
                    <a:pt x="5164048" y="3502052"/>
                  </a:lnTo>
                  <a:lnTo>
                    <a:pt x="5197339" y="3476422"/>
                  </a:lnTo>
                  <a:lnTo>
                    <a:pt x="5223057" y="3443258"/>
                  </a:lnTo>
                  <a:lnTo>
                    <a:pt x="5239637" y="3404131"/>
                  </a:lnTo>
                  <a:lnTo>
                    <a:pt x="5245512" y="3360610"/>
                  </a:lnTo>
                  <a:lnTo>
                    <a:pt x="5245512" y="201930"/>
                  </a:lnTo>
                  <a:lnTo>
                    <a:pt x="5239644" y="158408"/>
                  </a:lnTo>
                  <a:lnTo>
                    <a:pt x="5223079" y="119281"/>
                  </a:lnTo>
                  <a:lnTo>
                    <a:pt x="5197375" y="86117"/>
                  </a:lnTo>
                  <a:lnTo>
                    <a:pt x="5164091" y="60487"/>
                  </a:lnTo>
                  <a:lnTo>
                    <a:pt x="5124785" y="43958"/>
                  </a:lnTo>
                  <a:lnTo>
                    <a:pt x="5081015" y="38100"/>
                  </a:lnTo>
                  <a:lnTo>
                    <a:pt x="202596" y="38100"/>
                  </a:lnTo>
                  <a:lnTo>
                    <a:pt x="202596" y="19050"/>
                  </a:lnTo>
                  <a:lnTo>
                    <a:pt x="5081015" y="19050"/>
                  </a:lnTo>
                  <a:lnTo>
                    <a:pt x="5081015" y="0"/>
                  </a:lnTo>
                  <a:lnTo>
                    <a:pt x="5127447" y="5327"/>
                  </a:lnTo>
                  <a:lnTo>
                    <a:pt x="5170082" y="20505"/>
                  </a:lnTo>
                  <a:lnTo>
                    <a:pt x="5207700" y="44327"/>
                  </a:lnTo>
                  <a:lnTo>
                    <a:pt x="5239082" y="75586"/>
                  </a:lnTo>
                  <a:lnTo>
                    <a:pt x="5263008" y="113078"/>
                  </a:lnTo>
                  <a:lnTo>
                    <a:pt x="5278257" y="155594"/>
                  </a:lnTo>
                  <a:lnTo>
                    <a:pt x="5281997" y="187958"/>
                  </a:lnTo>
                  <a:lnTo>
                    <a:pt x="5281997" y="3374581"/>
                  </a:lnTo>
                  <a:lnTo>
                    <a:pt x="5278257" y="3406945"/>
                  </a:lnTo>
                  <a:lnTo>
                    <a:pt x="5263008" y="3449462"/>
                  </a:lnTo>
                  <a:lnTo>
                    <a:pt x="5239082" y="3486953"/>
                  </a:lnTo>
                  <a:lnTo>
                    <a:pt x="5207700" y="3518213"/>
                  </a:lnTo>
                  <a:lnTo>
                    <a:pt x="5197867" y="3524440"/>
                  </a:lnTo>
                  <a:close/>
                </a:path>
                <a:path w="5282565" h="3562984">
                  <a:moveTo>
                    <a:pt x="5081015" y="3562498"/>
                  </a:moveTo>
                  <a:lnTo>
                    <a:pt x="202601" y="3562498"/>
                  </a:lnTo>
                  <a:lnTo>
                    <a:pt x="202596" y="3543490"/>
                  </a:lnTo>
                  <a:lnTo>
                    <a:pt x="5081015" y="3543490"/>
                  </a:lnTo>
                  <a:lnTo>
                    <a:pt x="5081015" y="3562498"/>
                  </a:lnTo>
                  <a:close/>
                </a:path>
                <a:path w="5282565" h="3562984">
                  <a:moveTo>
                    <a:pt x="5081374" y="3562498"/>
                  </a:moveTo>
                  <a:lnTo>
                    <a:pt x="5081015" y="3562498"/>
                  </a:lnTo>
                  <a:lnTo>
                    <a:pt x="5081015" y="3543490"/>
                  </a:lnTo>
                  <a:lnTo>
                    <a:pt x="5165995" y="3543490"/>
                  </a:lnTo>
                  <a:lnTo>
                    <a:pt x="5127447" y="3557212"/>
                  </a:lnTo>
                  <a:lnTo>
                    <a:pt x="5081374" y="3562498"/>
                  </a:lnTo>
                  <a:close/>
                </a:path>
              </a:pathLst>
            </a:custGeom>
            <a:solidFill>
              <a:srgbClr val="616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4137" y="3494633"/>
              <a:ext cx="152400" cy="3524250"/>
            </a:xfrm>
            <a:custGeom>
              <a:avLst/>
              <a:gdLst/>
              <a:ahLst/>
              <a:cxnLst/>
              <a:rect l="l" t="t" r="r" b="b"/>
              <a:pathLst>
                <a:path w="152400" h="3524250">
                  <a:moveTo>
                    <a:pt x="110768" y="3524249"/>
                  </a:moveTo>
                  <a:lnTo>
                    <a:pt x="41631" y="3524249"/>
                  </a:lnTo>
                  <a:lnTo>
                    <a:pt x="25998" y="3521096"/>
                  </a:lnTo>
                  <a:lnTo>
                    <a:pt x="12465" y="3511974"/>
                  </a:lnTo>
                  <a:lnTo>
                    <a:pt x="3344" y="3498441"/>
                  </a:lnTo>
                  <a:lnTo>
                    <a:pt x="0" y="3481863"/>
                  </a:lnTo>
                  <a:lnTo>
                    <a:pt x="0" y="42576"/>
                  </a:lnTo>
                  <a:lnTo>
                    <a:pt x="25998" y="3344"/>
                  </a:lnTo>
                  <a:lnTo>
                    <a:pt x="109918" y="0"/>
                  </a:lnTo>
                  <a:lnTo>
                    <a:pt x="126441" y="3344"/>
                  </a:lnTo>
                  <a:lnTo>
                    <a:pt x="139946" y="12465"/>
                  </a:lnTo>
                  <a:lnTo>
                    <a:pt x="149057" y="25998"/>
                  </a:lnTo>
                  <a:lnTo>
                    <a:pt x="152399" y="42576"/>
                  </a:lnTo>
                  <a:lnTo>
                    <a:pt x="152399" y="3481863"/>
                  </a:lnTo>
                  <a:lnTo>
                    <a:pt x="149055" y="3498441"/>
                  </a:lnTo>
                  <a:lnTo>
                    <a:pt x="139934" y="3511974"/>
                  </a:lnTo>
                  <a:lnTo>
                    <a:pt x="126401" y="3521096"/>
                  </a:lnTo>
                  <a:lnTo>
                    <a:pt x="110768" y="3524249"/>
                  </a:lnTo>
                  <a:close/>
                </a:path>
              </a:pathLst>
            </a:custGeom>
            <a:solidFill>
              <a:srgbClr val="FFBC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15454" y="3545091"/>
            <a:ext cx="4403090" cy="2541270"/>
          </a:xfrm>
          <a:prstGeom prst="rect">
            <a:avLst/>
          </a:prstGeom>
        </p:spPr>
        <p:txBody>
          <a:bodyPr vert="horz" wrap="square" lIns="0" tIns="2463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2750" spc="114" dirty="0">
                <a:solidFill>
                  <a:srgbClr val="FFBC8F"/>
                </a:solidFill>
                <a:latin typeface="Tahoma"/>
                <a:cs typeface="Tahoma"/>
              </a:rPr>
              <a:t>Peak</a:t>
            </a:r>
            <a:r>
              <a:rPr sz="2750" spc="-190" dirty="0">
                <a:solidFill>
                  <a:srgbClr val="FFBC8F"/>
                </a:solidFill>
                <a:latin typeface="Tahoma"/>
                <a:cs typeface="Tahoma"/>
              </a:rPr>
              <a:t> </a:t>
            </a:r>
            <a:r>
              <a:rPr sz="2750" spc="75" dirty="0">
                <a:solidFill>
                  <a:srgbClr val="FFBC8F"/>
                </a:solidFill>
                <a:latin typeface="Tahoma"/>
                <a:cs typeface="Tahoma"/>
              </a:rPr>
              <a:t>Performance</a:t>
            </a:r>
            <a:r>
              <a:rPr sz="2750" spc="-185" dirty="0">
                <a:solidFill>
                  <a:srgbClr val="FFBC8F"/>
                </a:solidFill>
                <a:latin typeface="Tahoma"/>
                <a:cs typeface="Tahoma"/>
              </a:rPr>
              <a:t> </a:t>
            </a:r>
            <a:r>
              <a:rPr sz="2750" spc="80" dirty="0">
                <a:solidFill>
                  <a:srgbClr val="FFBC8F"/>
                </a:solidFill>
                <a:latin typeface="Tahoma"/>
                <a:cs typeface="Tahoma"/>
              </a:rPr>
              <a:t>Period</a:t>
            </a:r>
            <a:endParaRPr sz="2750"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560"/>
              </a:spcBef>
            </a:pP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The</a:t>
            </a:r>
            <a:r>
              <a:rPr sz="2150" spc="-7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analysis</a:t>
            </a:r>
            <a:r>
              <a:rPr sz="2150" spc="-7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clearly</a:t>
            </a:r>
            <a:r>
              <a:rPr sz="2150" spc="-7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identifies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2017–2019</a:t>
            </a:r>
            <a:r>
              <a:rPr sz="2150" spc="-4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as</a:t>
            </a:r>
            <a:r>
              <a:rPr sz="215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his</a:t>
            </a:r>
            <a:r>
              <a:rPr sz="2150" spc="-4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statistical</a:t>
            </a:r>
            <a:r>
              <a:rPr sz="215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zenith,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where</a:t>
            </a:r>
            <a:r>
              <a:rPr sz="215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his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output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maximized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across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all</a:t>
            </a:r>
            <a:r>
              <a:rPr sz="2150" spc="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formats</a:t>
            </a:r>
            <a:r>
              <a:rPr sz="2150" spc="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simultaneously.</a:t>
            </a:r>
            <a:endParaRPr sz="215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483102" y="3475583"/>
            <a:ext cx="5301615" cy="3562985"/>
            <a:chOff x="6483102" y="3475583"/>
            <a:chExt cx="5301615" cy="3562985"/>
          </a:xfrm>
        </p:grpSpPr>
        <p:sp>
          <p:nvSpPr>
            <p:cNvPr id="9" name="object 9"/>
            <p:cNvSpPr/>
            <p:nvPr/>
          </p:nvSpPr>
          <p:spPr>
            <a:xfrm>
              <a:off x="6521202" y="3494633"/>
              <a:ext cx="5245735" cy="3524885"/>
            </a:xfrm>
            <a:custGeom>
              <a:avLst/>
              <a:gdLst/>
              <a:ahLst/>
              <a:cxnLst/>
              <a:rect l="l" t="t" r="r" b="b"/>
              <a:pathLst>
                <a:path w="5245734" h="3524884">
                  <a:moveTo>
                    <a:pt x="5061965" y="3524440"/>
                  </a:moveTo>
                  <a:lnTo>
                    <a:pt x="183546" y="3524440"/>
                  </a:lnTo>
                  <a:lnTo>
                    <a:pt x="134760" y="3517904"/>
                  </a:lnTo>
                  <a:lnTo>
                    <a:pt x="90917" y="3499463"/>
                  </a:lnTo>
                  <a:lnTo>
                    <a:pt x="53768" y="3470861"/>
                  </a:lnTo>
                  <a:lnTo>
                    <a:pt x="25064" y="3433846"/>
                  </a:lnTo>
                  <a:lnTo>
                    <a:pt x="6558" y="3390163"/>
                  </a:lnTo>
                  <a:lnTo>
                    <a:pt x="0" y="3341560"/>
                  </a:lnTo>
                  <a:lnTo>
                    <a:pt x="0" y="182879"/>
                  </a:lnTo>
                  <a:lnTo>
                    <a:pt x="6558" y="134276"/>
                  </a:lnTo>
                  <a:lnTo>
                    <a:pt x="25064" y="90593"/>
                  </a:lnTo>
                  <a:lnTo>
                    <a:pt x="53768" y="53578"/>
                  </a:lnTo>
                  <a:lnTo>
                    <a:pt x="90917" y="24976"/>
                  </a:lnTo>
                  <a:lnTo>
                    <a:pt x="134760" y="6535"/>
                  </a:lnTo>
                  <a:lnTo>
                    <a:pt x="183546" y="0"/>
                  </a:lnTo>
                  <a:lnTo>
                    <a:pt x="5061965" y="0"/>
                  </a:lnTo>
                  <a:lnTo>
                    <a:pt x="5110750" y="6535"/>
                  </a:lnTo>
                  <a:lnTo>
                    <a:pt x="5154593" y="24976"/>
                  </a:lnTo>
                  <a:lnTo>
                    <a:pt x="5191743" y="53578"/>
                  </a:lnTo>
                  <a:lnTo>
                    <a:pt x="5220446" y="90593"/>
                  </a:lnTo>
                  <a:lnTo>
                    <a:pt x="5238953" y="134276"/>
                  </a:lnTo>
                  <a:lnTo>
                    <a:pt x="5245511" y="182879"/>
                  </a:lnTo>
                  <a:lnTo>
                    <a:pt x="5245511" y="3341560"/>
                  </a:lnTo>
                  <a:lnTo>
                    <a:pt x="5238953" y="3390163"/>
                  </a:lnTo>
                  <a:lnTo>
                    <a:pt x="5220446" y="3433846"/>
                  </a:lnTo>
                  <a:lnTo>
                    <a:pt x="5191743" y="3470861"/>
                  </a:lnTo>
                  <a:lnTo>
                    <a:pt x="5154593" y="3499463"/>
                  </a:lnTo>
                  <a:lnTo>
                    <a:pt x="5110750" y="3517904"/>
                  </a:lnTo>
                  <a:lnTo>
                    <a:pt x="5061965" y="3524440"/>
                  </a:lnTo>
                  <a:close/>
                </a:path>
              </a:pathLst>
            </a:custGeom>
            <a:solidFill>
              <a:srgbClr val="292B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502152" y="3475583"/>
              <a:ext cx="5282565" cy="3562985"/>
            </a:xfrm>
            <a:custGeom>
              <a:avLst/>
              <a:gdLst/>
              <a:ahLst/>
              <a:cxnLst/>
              <a:rect l="l" t="t" r="r" b="b"/>
              <a:pathLst>
                <a:path w="5282565" h="3562984">
                  <a:moveTo>
                    <a:pt x="202596" y="3562498"/>
                  </a:moveTo>
                  <a:lnTo>
                    <a:pt x="156207" y="3557212"/>
                  </a:lnTo>
                  <a:lnTo>
                    <a:pt x="113576" y="3542035"/>
                  </a:lnTo>
                  <a:lnTo>
                    <a:pt x="75958" y="3518213"/>
                  </a:lnTo>
                  <a:lnTo>
                    <a:pt x="44569" y="3486953"/>
                  </a:lnTo>
                  <a:lnTo>
                    <a:pt x="20630" y="3449462"/>
                  </a:lnTo>
                  <a:lnTo>
                    <a:pt x="5365" y="3406945"/>
                  </a:lnTo>
                  <a:lnTo>
                    <a:pt x="0" y="3360610"/>
                  </a:lnTo>
                  <a:lnTo>
                    <a:pt x="0" y="201930"/>
                  </a:lnTo>
                  <a:lnTo>
                    <a:pt x="5354" y="155594"/>
                  </a:lnTo>
                  <a:lnTo>
                    <a:pt x="20604" y="113078"/>
                  </a:lnTo>
                  <a:lnTo>
                    <a:pt x="44529" y="75586"/>
                  </a:lnTo>
                  <a:lnTo>
                    <a:pt x="75911" y="44327"/>
                  </a:lnTo>
                  <a:lnTo>
                    <a:pt x="113529" y="20505"/>
                  </a:lnTo>
                  <a:lnTo>
                    <a:pt x="156164" y="5327"/>
                  </a:lnTo>
                  <a:lnTo>
                    <a:pt x="202596" y="0"/>
                  </a:lnTo>
                  <a:lnTo>
                    <a:pt x="5081015" y="0"/>
                  </a:lnTo>
                  <a:lnTo>
                    <a:pt x="5081015" y="19050"/>
                  </a:lnTo>
                  <a:lnTo>
                    <a:pt x="202596" y="19050"/>
                  </a:lnTo>
                  <a:lnTo>
                    <a:pt x="202596" y="38100"/>
                  </a:lnTo>
                  <a:lnTo>
                    <a:pt x="158827" y="43958"/>
                  </a:lnTo>
                  <a:lnTo>
                    <a:pt x="119521" y="60487"/>
                  </a:lnTo>
                  <a:lnTo>
                    <a:pt x="86237" y="86117"/>
                  </a:lnTo>
                  <a:lnTo>
                    <a:pt x="60533" y="119281"/>
                  </a:lnTo>
                  <a:lnTo>
                    <a:pt x="43968" y="158408"/>
                  </a:lnTo>
                  <a:lnTo>
                    <a:pt x="38100" y="201930"/>
                  </a:lnTo>
                  <a:lnTo>
                    <a:pt x="38100" y="3360610"/>
                  </a:lnTo>
                  <a:lnTo>
                    <a:pt x="43968" y="3404131"/>
                  </a:lnTo>
                  <a:lnTo>
                    <a:pt x="60533" y="3443258"/>
                  </a:lnTo>
                  <a:lnTo>
                    <a:pt x="86237" y="3476422"/>
                  </a:lnTo>
                  <a:lnTo>
                    <a:pt x="119521" y="3502052"/>
                  </a:lnTo>
                  <a:lnTo>
                    <a:pt x="158827" y="3518581"/>
                  </a:lnTo>
                  <a:lnTo>
                    <a:pt x="202596" y="3524440"/>
                  </a:lnTo>
                  <a:lnTo>
                    <a:pt x="5197867" y="3524440"/>
                  </a:lnTo>
                  <a:lnTo>
                    <a:pt x="5170082" y="3542035"/>
                  </a:lnTo>
                  <a:lnTo>
                    <a:pt x="5165995" y="3543490"/>
                  </a:lnTo>
                  <a:lnTo>
                    <a:pt x="202596" y="3543490"/>
                  </a:lnTo>
                  <a:lnTo>
                    <a:pt x="202596" y="3562498"/>
                  </a:lnTo>
                  <a:close/>
                </a:path>
                <a:path w="5282565" h="3562984">
                  <a:moveTo>
                    <a:pt x="5197867" y="3524440"/>
                  </a:moveTo>
                  <a:lnTo>
                    <a:pt x="5081015" y="3524440"/>
                  </a:lnTo>
                  <a:lnTo>
                    <a:pt x="5124751" y="3518581"/>
                  </a:lnTo>
                  <a:lnTo>
                    <a:pt x="5164048" y="3502052"/>
                  </a:lnTo>
                  <a:lnTo>
                    <a:pt x="5197339" y="3476422"/>
                  </a:lnTo>
                  <a:lnTo>
                    <a:pt x="5223057" y="3443258"/>
                  </a:lnTo>
                  <a:lnTo>
                    <a:pt x="5239637" y="3404131"/>
                  </a:lnTo>
                  <a:lnTo>
                    <a:pt x="5245511" y="3360610"/>
                  </a:lnTo>
                  <a:lnTo>
                    <a:pt x="5245511" y="201930"/>
                  </a:lnTo>
                  <a:lnTo>
                    <a:pt x="5239643" y="158408"/>
                  </a:lnTo>
                  <a:lnTo>
                    <a:pt x="5223078" y="119281"/>
                  </a:lnTo>
                  <a:lnTo>
                    <a:pt x="5197375" y="86117"/>
                  </a:lnTo>
                  <a:lnTo>
                    <a:pt x="5164091" y="60487"/>
                  </a:lnTo>
                  <a:lnTo>
                    <a:pt x="5124785" y="43958"/>
                  </a:lnTo>
                  <a:lnTo>
                    <a:pt x="5081015" y="38100"/>
                  </a:lnTo>
                  <a:lnTo>
                    <a:pt x="202596" y="38100"/>
                  </a:lnTo>
                  <a:lnTo>
                    <a:pt x="202596" y="19050"/>
                  </a:lnTo>
                  <a:lnTo>
                    <a:pt x="5081015" y="19050"/>
                  </a:lnTo>
                  <a:lnTo>
                    <a:pt x="5081015" y="0"/>
                  </a:lnTo>
                  <a:lnTo>
                    <a:pt x="5127447" y="5327"/>
                  </a:lnTo>
                  <a:lnTo>
                    <a:pt x="5170082" y="20505"/>
                  </a:lnTo>
                  <a:lnTo>
                    <a:pt x="5207700" y="44327"/>
                  </a:lnTo>
                  <a:lnTo>
                    <a:pt x="5239082" y="75586"/>
                  </a:lnTo>
                  <a:lnTo>
                    <a:pt x="5263008" y="113078"/>
                  </a:lnTo>
                  <a:lnTo>
                    <a:pt x="5278258" y="155594"/>
                  </a:lnTo>
                  <a:lnTo>
                    <a:pt x="5281997" y="187956"/>
                  </a:lnTo>
                  <a:lnTo>
                    <a:pt x="5281997" y="3374583"/>
                  </a:lnTo>
                  <a:lnTo>
                    <a:pt x="5278258" y="3406945"/>
                  </a:lnTo>
                  <a:lnTo>
                    <a:pt x="5263008" y="3449462"/>
                  </a:lnTo>
                  <a:lnTo>
                    <a:pt x="5239082" y="3486953"/>
                  </a:lnTo>
                  <a:lnTo>
                    <a:pt x="5207700" y="3518213"/>
                  </a:lnTo>
                  <a:lnTo>
                    <a:pt x="5197867" y="3524440"/>
                  </a:lnTo>
                  <a:close/>
                </a:path>
                <a:path w="5282565" h="3562984">
                  <a:moveTo>
                    <a:pt x="5081015" y="3562498"/>
                  </a:moveTo>
                  <a:lnTo>
                    <a:pt x="202601" y="3562498"/>
                  </a:lnTo>
                  <a:lnTo>
                    <a:pt x="202596" y="3543490"/>
                  </a:lnTo>
                  <a:lnTo>
                    <a:pt x="5081015" y="3543490"/>
                  </a:lnTo>
                  <a:lnTo>
                    <a:pt x="5081015" y="3562498"/>
                  </a:lnTo>
                  <a:close/>
                </a:path>
                <a:path w="5282565" h="3562984">
                  <a:moveTo>
                    <a:pt x="5081375" y="3562498"/>
                  </a:moveTo>
                  <a:lnTo>
                    <a:pt x="5081015" y="3562498"/>
                  </a:lnTo>
                  <a:lnTo>
                    <a:pt x="5081015" y="3543490"/>
                  </a:lnTo>
                  <a:lnTo>
                    <a:pt x="5165995" y="3543490"/>
                  </a:lnTo>
                  <a:lnTo>
                    <a:pt x="5127447" y="3557212"/>
                  </a:lnTo>
                  <a:lnTo>
                    <a:pt x="5081375" y="3562498"/>
                  </a:lnTo>
                  <a:close/>
                </a:path>
              </a:pathLst>
            </a:custGeom>
            <a:solidFill>
              <a:srgbClr val="616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83102" y="3494633"/>
              <a:ext cx="152400" cy="3524250"/>
            </a:xfrm>
            <a:custGeom>
              <a:avLst/>
              <a:gdLst/>
              <a:ahLst/>
              <a:cxnLst/>
              <a:rect l="l" t="t" r="r" b="b"/>
              <a:pathLst>
                <a:path w="152400" h="3524250">
                  <a:moveTo>
                    <a:pt x="110768" y="3524249"/>
                  </a:moveTo>
                  <a:lnTo>
                    <a:pt x="41631" y="3524249"/>
                  </a:lnTo>
                  <a:lnTo>
                    <a:pt x="25998" y="3521096"/>
                  </a:lnTo>
                  <a:lnTo>
                    <a:pt x="12465" y="3511974"/>
                  </a:lnTo>
                  <a:lnTo>
                    <a:pt x="3344" y="3498441"/>
                  </a:lnTo>
                  <a:lnTo>
                    <a:pt x="0" y="3481863"/>
                  </a:lnTo>
                  <a:lnTo>
                    <a:pt x="0" y="42576"/>
                  </a:lnTo>
                  <a:lnTo>
                    <a:pt x="25998" y="3344"/>
                  </a:lnTo>
                  <a:lnTo>
                    <a:pt x="109918" y="0"/>
                  </a:lnTo>
                  <a:lnTo>
                    <a:pt x="126441" y="3344"/>
                  </a:lnTo>
                  <a:lnTo>
                    <a:pt x="139946" y="12465"/>
                  </a:lnTo>
                  <a:lnTo>
                    <a:pt x="149057" y="25998"/>
                  </a:lnTo>
                  <a:lnTo>
                    <a:pt x="152399" y="42576"/>
                  </a:lnTo>
                  <a:lnTo>
                    <a:pt x="152399" y="3481863"/>
                  </a:lnTo>
                  <a:lnTo>
                    <a:pt x="149055" y="3498441"/>
                  </a:lnTo>
                  <a:lnTo>
                    <a:pt x="139934" y="3511974"/>
                  </a:lnTo>
                  <a:lnTo>
                    <a:pt x="126401" y="3521096"/>
                  </a:lnTo>
                  <a:lnTo>
                    <a:pt x="110768" y="3524249"/>
                  </a:lnTo>
                  <a:close/>
                </a:path>
              </a:pathLst>
            </a:custGeom>
            <a:solidFill>
              <a:srgbClr val="FFBC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944420" y="3545091"/>
            <a:ext cx="4389120" cy="2988945"/>
          </a:xfrm>
          <a:prstGeom prst="rect">
            <a:avLst/>
          </a:prstGeom>
        </p:spPr>
        <p:txBody>
          <a:bodyPr vert="horz" wrap="square" lIns="0" tIns="2463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2750" spc="105" dirty="0">
                <a:solidFill>
                  <a:srgbClr val="FFBC8F"/>
                </a:solidFill>
                <a:latin typeface="Tahoma"/>
                <a:cs typeface="Tahoma"/>
              </a:rPr>
              <a:t>Best</a:t>
            </a:r>
            <a:r>
              <a:rPr sz="2750" spc="-204" dirty="0">
                <a:solidFill>
                  <a:srgbClr val="FFBC8F"/>
                </a:solidFill>
                <a:latin typeface="Tahoma"/>
                <a:cs typeface="Tahoma"/>
              </a:rPr>
              <a:t> </a:t>
            </a:r>
            <a:r>
              <a:rPr sz="2750" spc="75" dirty="0">
                <a:solidFill>
                  <a:srgbClr val="FFBC8F"/>
                </a:solidFill>
                <a:latin typeface="Tahoma"/>
                <a:cs typeface="Tahoma"/>
              </a:rPr>
              <a:t>Format</a:t>
            </a:r>
            <a:r>
              <a:rPr sz="2750" spc="-204" dirty="0">
                <a:solidFill>
                  <a:srgbClr val="FFBC8F"/>
                </a:solidFill>
                <a:latin typeface="Tahoma"/>
                <a:cs typeface="Tahoma"/>
              </a:rPr>
              <a:t> </a:t>
            </a:r>
            <a:r>
              <a:rPr sz="2750" spc="75" dirty="0">
                <a:solidFill>
                  <a:srgbClr val="FFBC8F"/>
                </a:solidFill>
                <a:latin typeface="Tahoma"/>
                <a:cs typeface="Tahoma"/>
              </a:rPr>
              <a:t>Adaptability</a:t>
            </a:r>
            <a:endParaRPr sz="2750"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560"/>
              </a:spcBef>
            </a:pP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Kohli</a:t>
            </a:r>
            <a:r>
              <a:rPr sz="2150" spc="-5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maintains</a:t>
            </a:r>
            <a:r>
              <a:rPr sz="2150" spc="-5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an</a:t>
            </a:r>
            <a:r>
              <a:rPr sz="2150" spc="-5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exceptionally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high</a:t>
            </a:r>
            <a:r>
              <a:rPr sz="215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average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in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ODIs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and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Tests,</a:t>
            </a:r>
            <a:r>
              <a:rPr sz="215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but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his</a:t>
            </a:r>
            <a:r>
              <a:rPr sz="2150" spc="-4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T20I</a:t>
            </a:r>
            <a:r>
              <a:rPr sz="2150" spc="-4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strike</a:t>
            </a:r>
            <a:r>
              <a:rPr sz="2150" spc="-4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rate</a:t>
            </a:r>
            <a:r>
              <a:rPr sz="215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evolution</a:t>
            </a:r>
            <a:r>
              <a:rPr sz="2150" spc="-4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shows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incredible</a:t>
            </a:r>
            <a:r>
              <a:rPr sz="215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adaptability</a:t>
            </a:r>
            <a:r>
              <a:rPr sz="215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to</a:t>
            </a:r>
            <a:r>
              <a:rPr sz="2150" spc="-3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modern, </a:t>
            </a:r>
            <a:r>
              <a:rPr sz="2150" spc="-85" dirty="0">
                <a:solidFill>
                  <a:srgbClr val="D4D4D0"/>
                </a:solidFill>
                <a:latin typeface="Roboto"/>
                <a:cs typeface="Roboto"/>
              </a:rPr>
              <a:t>fast-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paced</a:t>
            </a:r>
            <a:r>
              <a:rPr sz="2150" spc="6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cricket.</a:t>
            </a:r>
            <a:endParaRPr sz="2150"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012066" y="3475583"/>
            <a:ext cx="5301615" cy="3562985"/>
            <a:chOff x="12012066" y="3475583"/>
            <a:chExt cx="5301615" cy="3562985"/>
          </a:xfrm>
        </p:grpSpPr>
        <p:sp>
          <p:nvSpPr>
            <p:cNvPr id="14" name="object 14"/>
            <p:cNvSpPr/>
            <p:nvPr/>
          </p:nvSpPr>
          <p:spPr>
            <a:xfrm>
              <a:off x="12050166" y="3494633"/>
              <a:ext cx="5245735" cy="3524885"/>
            </a:xfrm>
            <a:custGeom>
              <a:avLst/>
              <a:gdLst/>
              <a:ahLst/>
              <a:cxnLst/>
              <a:rect l="l" t="t" r="r" b="b"/>
              <a:pathLst>
                <a:path w="5245734" h="3524884">
                  <a:moveTo>
                    <a:pt x="5061965" y="3524440"/>
                  </a:moveTo>
                  <a:lnTo>
                    <a:pt x="183546" y="3524440"/>
                  </a:lnTo>
                  <a:lnTo>
                    <a:pt x="134760" y="3517904"/>
                  </a:lnTo>
                  <a:lnTo>
                    <a:pt x="90917" y="3499463"/>
                  </a:lnTo>
                  <a:lnTo>
                    <a:pt x="53768" y="3470861"/>
                  </a:lnTo>
                  <a:lnTo>
                    <a:pt x="25064" y="3433846"/>
                  </a:lnTo>
                  <a:lnTo>
                    <a:pt x="6558" y="3390163"/>
                  </a:lnTo>
                  <a:lnTo>
                    <a:pt x="0" y="3341560"/>
                  </a:lnTo>
                  <a:lnTo>
                    <a:pt x="0" y="182879"/>
                  </a:lnTo>
                  <a:lnTo>
                    <a:pt x="6558" y="134276"/>
                  </a:lnTo>
                  <a:lnTo>
                    <a:pt x="25064" y="90593"/>
                  </a:lnTo>
                  <a:lnTo>
                    <a:pt x="53768" y="53578"/>
                  </a:lnTo>
                  <a:lnTo>
                    <a:pt x="90917" y="24976"/>
                  </a:lnTo>
                  <a:lnTo>
                    <a:pt x="134760" y="6535"/>
                  </a:lnTo>
                  <a:lnTo>
                    <a:pt x="183546" y="0"/>
                  </a:lnTo>
                  <a:lnTo>
                    <a:pt x="5061965" y="0"/>
                  </a:lnTo>
                  <a:lnTo>
                    <a:pt x="5110751" y="6535"/>
                  </a:lnTo>
                  <a:lnTo>
                    <a:pt x="5154594" y="24976"/>
                  </a:lnTo>
                  <a:lnTo>
                    <a:pt x="5191743" y="53578"/>
                  </a:lnTo>
                  <a:lnTo>
                    <a:pt x="5220447" y="90593"/>
                  </a:lnTo>
                  <a:lnTo>
                    <a:pt x="5238953" y="134276"/>
                  </a:lnTo>
                  <a:lnTo>
                    <a:pt x="5245512" y="182879"/>
                  </a:lnTo>
                  <a:lnTo>
                    <a:pt x="5245512" y="3341560"/>
                  </a:lnTo>
                  <a:lnTo>
                    <a:pt x="5238953" y="3390163"/>
                  </a:lnTo>
                  <a:lnTo>
                    <a:pt x="5220447" y="3433846"/>
                  </a:lnTo>
                  <a:lnTo>
                    <a:pt x="5191743" y="3470861"/>
                  </a:lnTo>
                  <a:lnTo>
                    <a:pt x="5154594" y="3499463"/>
                  </a:lnTo>
                  <a:lnTo>
                    <a:pt x="5110751" y="3517904"/>
                  </a:lnTo>
                  <a:lnTo>
                    <a:pt x="5061965" y="3524440"/>
                  </a:lnTo>
                  <a:close/>
                </a:path>
              </a:pathLst>
            </a:custGeom>
            <a:solidFill>
              <a:srgbClr val="292B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031116" y="3475583"/>
              <a:ext cx="5282565" cy="3562985"/>
            </a:xfrm>
            <a:custGeom>
              <a:avLst/>
              <a:gdLst/>
              <a:ahLst/>
              <a:cxnLst/>
              <a:rect l="l" t="t" r="r" b="b"/>
              <a:pathLst>
                <a:path w="5282565" h="3562984">
                  <a:moveTo>
                    <a:pt x="202596" y="3562498"/>
                  </a:moveTo>
                  <a:lnTo>
                    <a:pt x="156207" y="3557212"/>
                  </a:lnTo>
                  <a:lnTo>
                    <a:pt x="113576" y="3542035"/>
                  </a:lnTo>
                  <a:lnTo>
                    <a:pt x="75958" y="3518213"/>
                  </a:lnTo>
                  <a:lnTo>
                    <a:pt x="44569" y="3486953"/>
                  </a:lnTo>
                  <a:lnTo>
                    <a:pt x="20630" y="3449462"/>
                  </a:lnTo>
                  <a:lnTo>
                    <a:pt x="5365" y="3406945"/>
                  </a:lnTo>
                  <a:lnTo>
                    <a:pt x="0" y="3360610"/>
                  </a:lnTo>
                  <a:lnTo>
                    <a:pt x="0" y="201930"/>
                  </a:lnTo>
                  <a:lnTo>
                    <a:pt x="5354" y="155594"/>
                  </a:lnTo>
                  <a:lnTo>
                    <a:pt x="20604" y="113078"/>
                  </a:lnTo>
                  <a:lnTo>
                    <a:pt x="44529" y="75586"/>
                  </a:lnTo>
                  <a:lnTo>
                    <a:pt x="75911" y="44327"/>
                  </a:lnTo>
                  <a:lnTo>
                    <a:pt x="113529" y="20505"/>
                  </a:lnTo>
                  <a:lnTo>
                    <a:pt x="156164" y="5327"/>
                  </a:lnTo>
                  <a:lnTo>
                    <a:pt x="202596" y="0"/>
                  </a:lnTo>
                  <a:lnTo>
                    <a:pt x="5081015" y="0"/>
                  </a:lnTo>
                  <a:lnTo>
                    <a:pt x="5081015" y="19050"/>
                  </a:lnTo>
                  <a:lnTo>
                    <a:pt x="202596" y="19050"/>
                  </a:lnTo>
                  <a:lnTo>
                    <a:pt x="202596" y="38100"/>
                  </a:lnTo>
                  <a:lnTo>
                    <a:pt x="158827" y="43958"/>
                  </a:lnTo>
                  <a:lnTo>
                    <a:pt x="119521" y="60487"/>
                  </a:lnTo>
                  <a:lnTo>
                    <a:pt x="86237" y="86117"/>
                  </a:lnTo>
                  <a:lnTo>
                    <a:pt x="60533" y="119281"/>
                  </a:lnTo>
                  <a:lnTo>
                    <a:pt x="43968" y="158408"/>
                  </a:lnTo>
                  <a:lnTo>
                    <a:pt x="38100" y="201930"/>
                  </a:lnTo>
                  <a:lnTo>
                    <a:pt x="38100" y="3360610"/>
                  </a:lnTo>
                  <a:lnTo>
                    <a:pt x="43968" y="3404131"/>
                  </a:lnTo>
                  <a:lnTo>
                    <a:pt x="60533" y="3443258"/>
                  </a:lnTo>
                  <a:lnTo>
                    <a:pt x="86237" y="3476422"/>
                  </a:lnTo>
                  <a:lnTo>
                    <a:pt x="119521" y="3502052"/>
                  </a:lnTo>
                  <a:lnTo>
                    <a:pt x="158827" y="3518581"/>
                  </a:lnTo>
                  <a:lnTo>
                    <a:pt x="202596" y="3524440"/>
                  </a:lnTo>
                  <a:lnTo>
                    <a:pt x="5197867" y="3524440"/>
                  </a:lnTo>
                  <a:lnTo>
                    <a:pt x="5170083" y="3542035"/>
                  </a:lnTo>
                  <a:lnTo>
                    <a:pt x="5165995" y="3543490"/>
                  </a:lnTo>
                  <a:lnTo>
                    <a:pt x="202596" y="3543490"/>
                  </a:lnTo>
                  <a:lnTo>
                    <a:pt x="202596" y="3562498"/>
                  </a:lnTo>
                  <a:close/>
                </a:path>
                <a:path w="5282565" h="3562984">
                  <a:moveTo>
                    <a:pt x="5197867" y="3524440"/>
                  </a:moveTo>
                  <a:lnTo>
                    <a:pt x="5081015" y="3524440"/>
                  </a:lnTo>
                  <a:lnTo>
                    <a:pt x="5124752" y="3518581"/>
                  </a:lnTo>
                  <a:lnTo>
                    <a:pt x="5164049" y="3502052"/>
                  </a:lnTo>
                  <a:lnTo>
                    <a:pt x="5197339" y="3476422"/>
                  </a:lnTo>
                  <a:lnTo>
                    <a:pt x="5223058" y="3443258"/>
                  </a:lnTo>
                  <a:lnTo>
                    <a:pt x="5239637" y="3404131"/>
                  </a:lnTo>
                  <a:lnTo>
                    <a:pt x="5245512" y="3360610"/>
                  </a:lnTo>
                  <a:lnTo>
                    <a:pt x="5245512" y="201930"/>
                  </a:lnTo>
                  <a:lnTo>
                    <a:pt x="5239644" y="158408"/>
                  </a:lnTo>
                  <a:lnTo>
                    <a:pt x="5223079" y="119281"/>
                  </a:lnTo>
                  <a:lnTo>
                    <a:pt x="5197375" y="86117"/>
                  </a:lnTo>
                  <a:lnTo>
                    <a:pt x="5164091" y="60487"/>
                  </a:lnTo>
                  <a:lnTo>
                    <a:pt x="5124785" y="43958"/>
                  </a:lnTo>
                  <a:lnTo>
                    <a:pt x="5081015" y="38100"/>
                  </a:lnTo>
                  <a:lnTo>
                    <a:pt x="202596" y="38100"/>
                  </a:lnTo>
                  <a:lnTo>
                    <a:pt x="202596" y="19050"/>
                  </a:lnTo>
                  <a:lnTo>
                    <a:pt x="5081015" y="19050"/>
                  </a:lnTo>
                  <a:lnTo>
                    <a:pt x="5081015" y="0"/>
                  </a:lnTo>
                  <a:lnTo>
                    <a:pt x="5127448" y="5327"/>
                  </a:lnTo>
                  <a:lnTo>
                    <a:pt x="5170083" y="20505"/>
                  </a:lnTo>
                  <a:lnTo>
                    <a:pt x="5207701" y="44327"/>
                  </a:lnTo>
                  <a:lnTo>
                    <a:pt x="5239082" y="75586"/>
                  </a:lnTo>
                  <a:lnTo>
                    <a:pt x="5263008" y="113078"/>
                  </a:lnTo>
                  <a:lnTo>
                    <a:pt x="5278258" y="155594"/>
                  </a:lnTo>
                  <a:lnTo>
                    <a:pt x="5281997" y="187955"/>
                  </a:lnTo>
                  <a:lnTo>
                    <a:pt x="5281997" y="3374584"/>
                  </a:lnTo>
                  <a:lnTo>
                    <a:pt x="5278258" y="3406945"/>
                  </a:lnTo>
                  <a:lnTo>
                    <a:pt x="5263008" y="3449462"/>
                  </a:lnTo>
                  <a:lnTo>
                    <a:pt x="5239082" y="3486953"/>
                  </a:lnTo>
                  <a:lnTo>
                    <a:pt x="5207701" y="3518213"/>
                  </a:lnTo>
                  <a:lnTo>
                    <a:pt x="5197867" y="3524440"/>
                  </a:lnTo>
                  <a:close/>
                </a:path>
                <a:path w="5282565" h="3562984">
                  <a:moveTo>
                    <a:pt x="5081015" y="3562498"/>
                  </a:moveTo>
                  <a:lnTo>
                    <a:pt x="202601" y="3562498"/>
                  </a:lnTo>
                  <a:lnTo>
                    <a:pt x="202596" y="3543490"/>
                  </a:lnTo>
                  <a:lnTo>
                    <a:pt x="5081015" y="3543490"/>
                  </a:lnTo>
                  <a:lnTo>
                    <a:pt x="5081015" y="3562498"/>
                  </a:lnTo>
                  <a:close/>
                </a:path>
                <a:path w="5282565" h="3562984">
                  <a:moveTo>
                    <a:pt x="5081375" y="3562498"/>
                  </a:moveTo>
                  <a:lnTo>
                    <a:pt x="5081015" y="3562498"/>
                  </a:lnTo>
                  <a:lnTo>
                    <a:pt x="5081015" y="3543490"/>
                  </a:lnTo>
                  <a:lnTo>
                    <a:pt x="5165995" y="3543490"/>
                  </a:lnTo>
                  <a:lnTo>
                    <a:pt x="5127448" y="3557212"/>
                  </a:lnTo>
                  <a:lnTo>
                    <a:pt x="5081375" y="3562498"/>
                  </a:lnTo>
                  <a:close/>
                </a:path>
              </a:pathLst>
            </a:custGeom>
            <a:solidFill>
              <a:srgbClr val="6164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012066" y="3494633"/>
              <a:ext cx="152400" cy="3524250"/>
            </a:xfrm>
            <a:custGeom>
              <a:avLst/>
              <a:gdLst/>
              <a:ahLst/>
              <a:cxnLst/>
              <a:rect l="l" t="t" r="r" b="b"/>
              <a:pathLst>
                <a:path w="152400" h="3524250">
                  <a:moveTo>
                    <a:pt x="110768" y="3524249"/>
                  </a:moveTo>
                  <a:lnTo>
                    <a:pt x="41631" y="3524249"/>
                  </a:lnTo>
                  <a:lnTo>
                    <a:pt x="25998" y="3521096"/>
                  </a:lnTo>
                  <a:lnTo>
                    <a:pt x="12466" y="3511974"/>
                  </a:lnTo>
                  <a:lnTo>
                    <a:pt x="3344" y="3498441"/>
                  </a:lnTo>
                  <a:lnTo>
                    <a:pt x="0" y="3481863"/>
                  </a:lnTo>
                  <a:lnTo>
                    <a:pt x="0" y="42576"/>
                  </a:lnTo>
                  <a:lnTo>
                    <a:pt x="25998" y="3344"/>
                  </a:lnTo>
                  <a:lnTo>
                    <a:pt x="109918" y="0"/>
                  </a:lnTo>
                  <a:lnTo>
                    <a:pt x="126441" y="3344"/>
                  </a:lnTo>
                  <a:lnTo>
                    <a:pt x="139946" y="12465"/>
                  </a:lnTo>
                  <a:lnTo>
                    <a:pt x="149057" y="25998"/>
                  </a:lnTo>
                  <a:lnTo>
                    <a:pt x="152399" y="42576"/>
                  </a:lnTo>
                  <a:lnTo>
                    <a:pt x="152399" y="3481863"/>
                  </a:lnTo>
                  <a:lnTo>
                    <a:pt x="149056" y="3498441"/>
                  </a:lnTo>
                  <a:lnTo>
                    <a:pt x="139934" y="3511974"/>
                  </a:lnTo>
                  <a:lnTo>
                    <a:pt x="126401" y="3521096"/>
                  </a:lnTo>
                  <a:lnTo>
                    <a:pt x="110768" y="3524249"/>
                  </a:lnTo>
                  <a:close/>
                </a:path>
              </a:pathLst>
            </a:custGeom>
            <a:solidFill>
              <a:srgbClr val="FFBC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2473385" y="3545091"/>
            <a:ext cx="3910329" cy="2988945"/>
          </a:xfrm>
          <a:prstGeom prst="rect">
            <a:avLst/>
          </a:prstGeom>
        </p:spPr>
        <p:txBody>
          <a:bodyPr vert="horz" wrap="square" lIns="0" tIns="2463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2750" spc="80" dirty="0">
                <a:solidFill>
                  <a:srgbClr val="FFBC8F"/>
                </a:solidFill>
                <a:latin typeface="Tahoma"/>
                <a:cs typeface="Tahoma"/>
              </a:rPr>
              <a:t>Form</a:t>
            </a:r>
            <a:r>
              <a:rPr sz="2750" spc="-210" dirty="0">
                <a:solidFill>
                  <a:srgbClr val="FFBC8F"/>
                </a:solidFill>
                <a:latin typeface="Tahoma"/>
                <a:cs typeface="Tahoma"/>
              </a:rPr>
              <a:t> </a:t>
            </a:r>
            <a:r>
              <a:rPr sz="2750" spc="65" dirty="0">
                <a:solidFill>
                  <a:srgbClr val="FFBC8F"/>
                </a:solidFill>
                <a:latin typeface="Tahoma"/>
                <a:cs typeface="Tahoma"/>
              </a:rPr>
              <a:t>and</a:t>
            </a:r>
            <a:r>
              <a:rPr sz="2750" spc="-210" dirty="0">
                <a:solidFill>
                  <a:srgbClr val="FFBC8F"/>
                </a:solidFill>
                <a:latin typeface="Tahoma"/>
                <a:cs typeface="Tahoma"/>
              </a:rPr>
              <a:t> </a:t>
            </a:r>
            <a:r>
              <a:rPr sz="2750" spc="50" dirty="0">
                <a:solidFill>
                  <a:srgbClr val="FFBC8F"/>
                </a:solidFill>
                <a:latin typeface="Tahoma"/>
                <a:cs typeface="Tahoma"/>
              </a:rPr>
              <a:t>Recovery</a:t>
            </a:r>
            <a:endParaRPr sz="2750"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560"/>
              </a:spcBef>
            </a:pP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The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data</a:t>
            </a:r>
            <a:r>
              <a:rPr sz="2150" spc="-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shows</a:t>
            </a:r>
            <a:r>
              <a:rPr sz="2150" spc="-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</a:t>
            </a:r>
            <a:r>
              <a:rPr sz="2150" spc="-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significant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recovery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phase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90" dirty="0">
                <a:solidFill>
                  <a:srgbClr val="D4D4D0"/>
                </a:solidFill>
                <a:latin typeface="Roboto"/>
                <a:cs typeface="Roboto"/>
              </a:rPr>
              <a:t>post-</a:t>
            </a:r>
            <a:r>
              <a:rPr sz="2150" spc="-20" dirty="0">
                <a:solidFill>
                  <a:srgbClr val="D4D4D0"/>
                </a:solidFill>
                <a:latin typeface="Roboto"/>
                <a:cs typeface="Roboto"/>
              </a:rPr>
              <a:t>2021,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demonstrating</a:t>
            </a:r>
            <a:r>
              <a:rPr sz="2150" spc="-5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resilience</a:t>
            </a:r>
            <a:r>
              <a:rPr sz="2150" spc="-5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and</a:t>
            </a:r>
            <a:r>
              <a:rPr sz="2150" spc="-50" dirty="0">
                <a:solidFill>
                  <a:srgbClr val="D4D4D0"/>
                </a:solidFill>
                <a:latin typeface="Roboto"/>
                <a:cs typeface="Roboto"/>
              </a:rPr>
              <a:t> a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return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to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0" dirty="0">
                <a:solidFill>
                  <a:srgbClr val="D4D4D0"/>
                </a:solidFill>
                <a:latin typeface="Roboto"/>
                <a:cs typeface="Roboto"/>
              </a:rPr>
              <a:t>high-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volume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scoring, particularly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in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80" dirty="0">
                <a:solidFill>
                  <a:srgbClr val="D4D4D0"/>
                </a:solidFill>
                <a:latin typeface="Roboto"/>
                <a:cs typeface="Roboto"/>
              </a:rPr>
              <a:t>white-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ball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cricket.</a:t>
            </a:r>
            <a:endParaRPr sz="2150">
              <a:latin typeface="Roboto"/>
              <a:cs typeface="Roboto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79537" y="7178414"/>
            <a:ext cx="16176625" cy="920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90"/>
              </a:spcBef>
            </a:pP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Kohli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has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successfully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balanced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the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demands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of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all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three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formats,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avoiding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specialization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and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maintaining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dominance,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a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rare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feat</a:t>
            </a:r>
            <a:r>
              <a:rPr sz="2150" spc="-3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25" dirty="0">
                <a:solidFill>
                  <a:srgbClr val="D4D4D0"/>
                </a:solidFill>
                <a:latin typeface="Roboto"/>
                <a:cs typeface="Roboto"/>
              </a:rPr>
              <a:t>in </a:t>
            </a:r>
            <a:r>
              <a:rPr sz="2150" dirty="0">
                <a:solidFill>
                  <a:srgbClr val="D4D4D0"/>
                </a:solidFill>
                <a:latin typeface="Roboto"/>
                <a:cs typeface="Roboto"/>
              </a:rPr>
              <a:t>contemporary</a:t>
            </a:r>
            <a:r>
              <a:rPr sz="2150" spc="-8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2150" spc="-10" dirty="0">
                <a:solidFill>
                  <a:srgbClr val="D4D4D0"/>
                </a:solidFill>
                <a:latin typeface="Roboto"/>
                <a:cs typeface="Roboto"/>
              </a:rPr>
              <a:t>cricket.</a:t>
            </a:r>
            <a:endParaRPr sz="21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750" spc="60" dirty="0"/>
              <a:t>Conclusion:</a:t>
            </a:r>
            <a:r>
              <a:rPr sz="2750" spc="-200" dirty="0"/>
              <a:t> </a:t>
            </a:r>
            <a:r>
              <a:rPr sz="2750" spc="60" dirty="0"/>
              <a:t>Dominance</a:t>
            </a:r>
            <a:r>
              <a:rPr sz="2750" spc="-200" dirty="0"/>
              <a:t> </a:t>
            </a:r>
            <a:r>
              <a:rPr sz="2750" spc="55" dirty="0"/>
              <a:t>Defined</a:t>
            </a:r>
            <a:r>
              <a:rPr sz="2750" spc="-195" dirty="0"/>
              <a:t> </a:t>
            </a:r>
            <a:r>
              <a:rPr sz="2750" spc="55" dirty="0"/>
              <a:t>by</a:t>
            </a:r>
            <a:r>
              <a:rPr sz="2750" spc="-200" dirty="0"/>
              <a:t> </a:t>
            </a:r>
            <a:r>
              <a:rPr sz="2750" spc="30" dirty="0"/>
              <a:t>Data</a:t>
            </a:r>
            <a:endParaRPr sz="2750"/>
          </a:p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8300" spc="210" dirty="0">
                <a:solidFill>
                  <a:srgbClr val="FFBC8F"/>
                </a:solidFill>
              </a:rPr>
              <a:t>Consistent.</a:t>
            </a:r>
            <a:r>
              <a:rPr sz="8300" spc="-620" dirty="0">
                <a:solidFill>
                  <a:srgbClr val="FFBC8F"/>
                </a:solidFill>
              </a:rPr>
              <a:t> </a:t>
            </a:r>
            <a:r>
              <a:rPr sz="8300" spc="155" dirty="0">
                <a:solidFill>
                  <a:srgbClr val="FFBC8F"/>
                </a:solidFill>
              </a:rPr>
              <a:t>Dominant.</a:t>
            </a:r>
            <a:r>
              <a:rPr sz="8300" spc="-620" dirty="0">
                <a:solidFill>
                  <a:srgbClr val="FFBC8F"/>
                </a:solidFill>
              </a:rPr>
              <a:t> </a:t>
            </a:r>
            <a:r>
              <a:rPr sz="8300" spc="245" dirty="0">
                <a:solidFill>
                  <a:srgbClr val="FFBC8F"/>
                </a:solidFill>
              </a:rPr>
              <a:t>Adaptable.</a:t>
            </a:r>
            <a:endParaRPr sz="8300"/>
          </a:p>
        </p:txBody>
      </p:sp>
      <p:sp>
        <p:nvSpPr>
          <p:cNvPr id="3" name="object 3"/>
          <p:cNvSpPr txBox="1"/>
          <p:nvPr/>
        </p:nvSpPr>
        <p:spPr>
          <a:xfrm>
            <a:off x="483343" y="2551920"/>
            <a:ext cx="12760960" cy="13417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Virat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Kohli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remains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one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of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 cricket’s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most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 consistent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and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 dominant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batsmen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across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all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formats.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His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career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stats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reveal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a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narrative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of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continuous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excellence,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punctuated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by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a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period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of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 unparalleled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peak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performance.</a:t>
            </a:r>
            <a:endParaRPr sz="105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0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0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F2F2F1"/>
                </a:solidFill>
                <a:latin typeface="Tahoma"/>
                <a:cs typeface="Tahoma"/>
              </a:rPr>
              <a:t>The</a:t>
            </a:r>
            <a:r>
              <a:rPr sz="1600" spc="-80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1600" spc="60" dirty="0">
                <a:solidFill>
                  <a:srgbClr val="F2F2F1"/>
                </a:solidFill>
                <a:latin typeface="Tahoma"/>
                <a:cs typeface="Tahoma"/>
              </a:rPr>
              <a:t>Role</a:t>
            </a:r>
            <a:r>
              <a:rPr sz="1600" spc="-80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1600" dirty="0">
                <a:solidFill>
                  <a:srgbClr val="F2F2F1"/>
                </a:solidFill>
                <a:latin typeface="Tahoma"/>
                <a:cs typeface="Tahoma"/>
              </a:rPr>
              <a:t>of</a:t>
            </a:r>
            <a:r>
              <a:rPr sz="1600" spc="-80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1600" spc="70" dirty="0">
                <a:solidFill>
                  <a:srgbClr val="F2F2F1"/>
                </a:solidFill>
                <a:latin typeface="Tahoma"/>
                <a:cs typeface="Tahoma"/>
              </a:rPr>
              <a:t>Power</a:t>
            </a:r>
            <a:r>
              <a:rPr sz="1600" spc="-80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1600" spc="70" dirty="0">
                <a:solidFill>
                  <a:srgbClr val="F2F2F1"/>
                </a:solidFill>
                <a:latin typeface="Tahoma"/>
                <a:cs typeface="Tahoma"/>
              </a:rPr>
              <a:t>BI</a:t>
            </a:r>
            <a:endParaRPr sz="1600">
              <a:latin typeface="Tahoma"/>
              <a:cs typeface="Tahoma"/>
            </a:endParaRPr>
          </a:p>
          <a:p>
            <a:pPr marL="12700" marR="4596765">
              <a:lnSpc>
                <a:spcPct val="136900"/>
              </a:lnSpc>
              <a:spcBef>
                <a:spcPts val="740"/>
              </a:spcBef>
            </a:pP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Power</a:t>
            </a:r>
            <a:r>
              <a:rPr sz="10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BI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proved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essential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in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aggregating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complex,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spc="-60" dirty="0">
                <a:solidFill>
                  <a:srgbClr val="D4D4D0"/>
                </a:solidFill>
                <a:latin typeface="Roboto"/>
                <a:cs typeface="Roboto"/>
              </a:rPr>
              <a:t>high-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volume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match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statistics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into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b="1" dirty="0">
                <a:solidFill>
                  <a:srgbClr val="D4D4D0"/>
                </a:solidFill>
                <a:latin typeface="Roboto"/>
                <a:cs typeface="Roboto"/>
              </a:rPr>
              <a:t>clear,</a:t>
            </a:r>
            <a:r>
              <a:rPr sz="1050" b="1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b="1" dirty="0">
                <a:solidFill>
                  <a:srgbClr val="D4D4D0"/>
                </a:solidFill>
                <a:latin typeface="Roboto"/>
                <a:cs typeface="Roboto"/>
              </a:rPr>
              <a:t>interactive</a:t>
            </a:r>
            <a:r>
              <a:rPr sz="1050" b="1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b="1" dirty="0">
                <a:solidFill>
                  <a:srgbClr val="D4D4D0"/>
                </a:solidFill>
                <a:latin typeface="Roboto"/>
                <a:cs typeface="Roboto"/>
              </a:rPr>
              <a:t>visualizations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.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This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enabled</a:t>
            </a:r>
            <a:r>
              <a:rPr sz="10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quick identification</a:t>
            </a:r>
            <a:r>
              <a:rPr sz="10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of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critical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trends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that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may</a:t>
            </a:r>
            <a:r>
              <a:rPr sz="1050" spc="-2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be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invisible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in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dirty="0">
                <a:solidFill>
                  <a:srgbClr val="D4D4D0"/>
                </a:solidFill>
                <a:latin typeface="Roboto"/>
                <a:cs typeface="Roboto"/>
              </a:rPr>
              <a:t>raw</a:t>
            </a:r>
            <a:r>
              <a:rPr sz="1050" spc="-1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050" spc="-10" dirty="0">
                <a:solidFill>
                  <a:srgbClr val="D4D4D0"/>
                </a:solidFill>
                <a:latin typeface="Roboto"/>
                <a:cs typeface="Roboto"/>
              </a:rPr>
              <a:t>data.</a:t>
            </a:r>
            <a:endParaRPr sz="105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26464" y="3132384"/>
            <a:ext cx="8475017" cy="71546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2780" rIns="0" bIns="0" rtlCol="0">
            <a:spAutoFit/>
          </a:bodyPr>
          <a:lstStyle/>
          <a:p>
            <a:pPr marL="307975">
              <a:lnSpc>
                <a:spcPct val="100000"/>
              </a:lnSpc>
              <a:spcBef>
                <a:spcPts val="135"/>
              </a:spcBef>
            </a:pPr>
            <a:r>
              <a:rPr spc="160" dirty="0"/>
              <a:t>Acknowledgements</a:t>
            </a:r>
            <a:r>
              <a:rPr spc="-325" dirty="0"/>
              <a:t> </a:t>
            </a:r>
            <a:r>
              <a:rPr spc="130" dirty="0"/>
              <a:t>and</a:t>
            </a:r>
            <a:r>
              <a:rPr spc="-325" dirty="0"/>
              <a:t> </a:t>
            </a:r>
            <a:r>
              <a:rPr spc="140" dirty="0"/>
              <a:t>Credits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141" y="2809726"/>
            <a:ext cx="5441304" cy="27104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23271" y="2809726"/>
            <a:ext cx="5441304" cy="271043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045403" y="2809726"/>
            <a:ext cx="5441304" cy="271043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18096" y="6147872"/>
            <a:ext cx="15560675" cy="29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This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D4D4D0"/>
                </a:solidFill>
                <a:latin typeface="Roboto"/>
                <a:cs typeface="Roboto"/>
              </a:rPr>
              <a:t>analysis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D4D4D0"/>
                </a:solidFill>
                <a:latin typeface="Roboto"/>
                <a:cs typeface="Roboto"/>
              </a:rPr>
              <a:t>highlights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the</a:t>
            </a:r>
            <a:r>
              <a:rPr sz="1750" spc="-5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power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of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D4D4D0"/>
                </a:solidFill>
                <a:latin typeface="Roboto"/>
                <a:cs typeface="Roboto"/>
              </a:rPr>
              <a:t>combining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deep</a:t>
            </a:r>
            <a:r>
              <a:rPr sz="1750" spc="-5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sports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knowledge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with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D4D4D0"/>
                </a:solidFill>
                <a:latin typeface="Roboto"/>
                <a:cs typeface="Roboto"/>
              </a:rPr>
              <a:t>sophisticated</a:t>
            </a:r>
            <a:r>
              <a:rPr sz="1750" spc="-5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data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D4D4D0"/>
                </a:solidFill>
                <a:latin typeface="Roboto"/>
                <a:cs typeface="Roboto"/>
              </a:rPr>
              <a:t>visualization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tools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to</a:t>
            </a:r>
            <a:r>
              <a:rPr sz="1750" spc="-5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celebrate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and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dissect</a:t>
            </a:r>
            <a:r>
              <a:rPr sz="1750" spc="-5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athletic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greatness.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1616" y="5926038"/>
            <a:ext cx="28575" cy="871219"/>
          </a:xfrm>
          <a:custGeom>
            <a:avLst/>
            <a:gdLst/>
            <a:ahLst/>
            <a:cxnLst/>
            <a:rect l="l" t="t" r="r" b="b"/>
            <a:pathLst>
              <a:path w="28575" h="871220">
                <a:moveTo>
                  <a:pt x="28575" y="870644"/>
                </a:moveTo>
                <a:lnTo>
                  <a:pt x="0" y="870644"/>
                </a:lnTo>
                <a:lnTo>
                  <a:pt x="0" y="0"/>
                </a:lnTo>
                <a:lnTo>
                  <a:pt x="28575" y="0"/>
                </a:lnTo>
                <a:lnTo>
                  <a:pt x="28575" y="870644"/>
                </a:lnTo>
                <a:close/>
              </a:path>
            </a:pathLst>
          </a:custGeom>
          <a:solidFill>
            <a:srgbClr val="FFBC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8916" y="7245413"/>
            <a:ext cx="1953260" cy="8712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spc="70" dirty="0">
                <a:solidFill>
                  <a:srgbClr val="F2F2F1"/>
                </a:solidFill>
                <a:latin typeface="Tahoma"/>
                <a:cs typeface="Tahoma"/>
              </a:rPr>
              <a:t>Project</a:t>
            </a:r>
            <a:r>
              <a:rPr sz="2150" spc="-135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2150" spc="55" dirty="0">
                <a:solidFill>
                  <a:srgbClr val="F2F2F1"/>
                </a:solidFill>
                <a:latin typeface="Tahoma"/>
                <a:cs typeface="Tahoma"/>
              </a:rPr>
              <a:t>Creator</a:t>
            </a: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Sanya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83051" y="7245413"/>
            <a:ext cx="4700270" cy="87121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spc="55" dirty="0">
                <a:solidFill>
                  <a:srgbClr val="F2F2F1"/>
                </a:solidFill>
                <a:latin typeface="Tahoma"/>
                <a:cs typeface="Tahoma"/>
              </a:rPr>
              <a:t>Data</a:t>
            </a:r>
            <a:r>
              <a:rPr sz="2150" spc="-160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2150" spc="60" dirty="0">
                <a:solidFill>
                  <a:srgbClr val="F2F2F1"/>
                </a:solidFill>
                <a:latin typeface="Tahoma"/>
                <a:cs typeface="Tahoma"/>
              </a:rPr>
              <a:t>Source</a:t>
            </a:r>
            <a:endParaRPr sz="21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Custom</a:t>
            </a:r>
            <a:r>
              <a:rPr sz="1750" spc="-6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Cricket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D4D4D0"/>
                </a:solidFill>
                <a:latin typeface="Roboto"/>
                <a:cs typeface="Roboto"/>
              </a:rPr>
              <a:t>Statistics</a:t>
            </a:r>
            <a:r>
              <a:rPr sz="1750" spc="-6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Dataset</a:t>
            </a:r>
            <a:r>
              <a:rPr sz="1750" spc="-6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(2008–2025)</a:t>
            </a:r>
            <a:endParaRPr sz="175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87187" y="7245413"/>
            <a:ext cx="5226050" cy="12236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spc="60" dirty="0">
                <a:solidFill>
                  <a:srgbClr val="F2F2F1"/>
                </a:solidFill>
                <a:latin typeface="Tahoma"/>
                <a:cs typeface="Tahoma"/>
              </a:rPr>
              <a:t>Tool</a:t>
            </a:r>
            <a:r>
              <a:rPr sz="2150" spc="-145" dirty="0">
                <a:solidFill>
                  <a:srgbClr val="F2F2F1"/>
                </a:solidFill>
                <a:latin typeface="Tahoma"/>
                <a:cs typeface="Tahoma"/>
              </a:rPr>
              <a:t> </a:t>
            </a:r>
            <a:r>
              <a:rPr sz="2150" spc="70" dirty="0">
                <a:solidFill>
                  <a:srgbClr val="F2F2F1"/>
                </a:solidFill>
                <a:latin typeface="Tahoma"/>
                <a:cs typeface="Tahoma"/>
              </a:rPr>
              <a:t>Used</a:t>
            </a:r>
            <a:endParaRPr sz="2150">
              <a:latin typeface="Tahoma"/>
              <a:cs typeface="Tahoma"/>
            </a:endParaRPr>
          </a:p>
          <a:p>
            <a:pPr marL="12700" marR="5080">
              <a:lnSpc>
                <a:spcPct val="132100"/>
              </a:lnSpc>
              <a:spcBef>
                <a:spcPts val="1265"/>
              </a:spcBef>
            </a:pP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Designed</a:t>
            </a:r>
            <a:r>
              <a:rPr sz="1750" spc="-4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for</a:t>
            </a:r>
            <a:r>
              <a:rPr sz="1750" spc="-4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Data</a:t>
            </a:r>
            <a:r>
              <a:rPr sz="1750" spc="-4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D4D4D0"/>
                </a:solidFill>
                <a:latin typeface="Roboto"/>
                <a:cs typeface="Roboto"/>
              </a:rPr>
              <a:t>Visualization</a:t>
            </a:r>
            <a:r>
              <a:rPr sz="1750" spc="-4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&amp;</a:t>
            </a:r>
            <a:r>
              <a:rPr sz="1750" spc="-40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0" dirty="0">
                <a:solidFill>
                  <a:srgbClr val="D4D4D0"/>
                </a:solidFill>
                <a:latin typeface="Roboto"/>
                <a:cs typeface="Roboto"/>
              </a:rPr>
              <a:t>Insights</a:t>
            </a:r>
            <a:r>
              <a:rPr sz="1750" spc="-4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10" dirty="0">
                <a:solidFill>
                  <a:srgbClr val="D4D4D0"/>
                </a:solidFill>
                <a:latin typeface="Roboto"/>
                <a:cs typeface="Roboto"/>
              </a:rPr>
              <a:t>Showcase </a:t>
            </a:r>
            <a:r>
              <a:rPr sz="1750" spc="-20" dirty="0">
                <a:solidFill>
                  <a:srgbClr val="D4D4D0"/>
                </a:solidFill>
                <a:latin typeface="Roboto"/>
                <a:cs typeface="Roboto"/>
              </a:rPr>
              <a:t>using</a:t>
            </a:r>
            <a:r>
              <a:rPr sz="1750" spc="-6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dirty="0">
                <a:solidFill>
                  <a:srgbClr val="D4D4D0"/>
                </a:solidFill>
                <a:latin typeface="Roboto"/>
                <a:cs typeface="Roboto"/>
              </a:rPr>
              <a:t>Power</a:t>
            </a:r>
            <a:r>
              <a:rPr sz="1750" spc="-65" dirty="0">
                <a:solidFill>
                  <a:srgbClr val="D4D4D0"/>
                </a:solidFill>
                <a:latin typeface="Roboto"/>
                <a:cs typeface="Roboto"/>
              </a:rPr>
              <a:t> </a:t>
            </a:r>
            <a:r>
              <a:rPr sz="1750" spc="-25" dirty="0">
                <a:solidFill>
                  <a:srgbClr val="D4D4D0"/>
                </a:solidFill>
                <a:latin typeface="Roboto"/>
                <a:cs typeface="Roboto"/>
              </a:rPr>
              <a:t>BI</a:t>
            </a:r>
            <a:endParaRPr sz="17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650</Words>
  <Application>Microsoft Office PowerPoint</Application>
  <PresentationFormat>Custom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Roboto</vt:lpstr>
      <vt:lpstr>Tahoma</vt:lpstr>
      <vt:lpstr>Office Theme</vt:lpstr>
      <vt:lpstr>Virat Kohli Career Statistics Analysis Dashboard (2008– 2025)</vt:lpstr>
      <vt:lpstr>Analysis Objective: Deconstructing a Cricket Legend's Performance</vt:lpstr>
      <vt:lpstr>Dataset Overview: Sourcing the Performance Data</vt:lpstr>
      <vt:lpstr>PowerPoint Presentation</vt:lpstr>
      <vt:lpstr>Key Performance Highlights: Career Totals</vt:lpstr>
      <vt:lpstr>Trend Analysis: Annual Runs Scored</vt:lpstr>
      <vt:lpstr>PowerPoint Presentation</vt:lpstr>
      <vt:lpstr>Key Insights &amp; Strategic Observations</vt:lpstr>
      <vt:lpstr>Conclusion: Dominance Defined by Data Consistent. Dominant. Adaptable.</vt:lpstr>
      <vt:lpstr>Acknowledgements and Credits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Virat-Kohli-Career-Statistics-Analysis-Dashboard-2008-2025.pptx</dc:title>
  <dc:creator>Saniya Kheraliya</dc:creator>
  <cp:keywords>DAG4NTPRsuw,BAGsqWUQG5o,0</cp:keywords>
  <cp:lastModifiedBy>Puttoor Yuvaratna Reddy</cp:lastModifiedBy>
  <cp:revision>2</cp:revision>
  <dcterms:created xsi:type="dcterms:W3CDTF">2025-11-10T04:27:16Z</dcterms:created>
  <dcterms:modified xsi:type="dcterms:W3CDTF">2025-11-10T04:48:27Z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2025-11-10T00:00:00Z</vt:filetime>
  </property>
  <property fmtid="{D5CDD505-2E9C-101B-9397-08002B2CF9AE}" pid="3" name="Creator">
    <vt:lpwstr>Canva</vt:lpwstr>
  </property>
  <property fmtid="{D5CDD505-2E9C-101B-9397-08002B2CF9AE}" pid="4" name="LastSaved">
    <vt:filetime>2025-11-10T00:00:00Z</vt:filetime>
  </property>
  <property fmtid="{D5CDD505-2E9C-101B-9397-08002B2CF9AE}" pid="5" name="Producer">
    <vt:lpwstr>Canva</vt:lpwstr>
  </property>
</Properties>
</file>